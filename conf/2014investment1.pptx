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380" r:id="rId3"/>
    <p:sldId id="381" r:id="rId4"/>
    <p:sldId id="378" r:id="rId5"/>
    <p:sldId id="379" r:id="rId6"/>
    <p:sldId id="319" r:id="rId7"/>
    <p:sldId id="358" r:id="rId8"/>
    <p:sldId id="365" r:id="rId9"/>
    <p:sldId id="382" r:id="rId10"/>
    <p:sldId id="320" r:id="rId11"/>
    <p:sldId id="321" r:id="rId12"/>
    <p:sldId id="326" r:id="rId13"/>
    <p:sldId id="383" r:id="rId14"/>
    <p:sldId id="322" r:id="rId15"/>
    <p:sldId id="331" r:id="rId16"/>
    <p:sldId id="332" r:id="rId17"/>
    <p:sldId id="333" r:id="rId18"/>
    <p:sldId id="328" r:id="rId19"/>
    <p:sldId id="329" r:id="rId20"/>
    <p:sldId id="338" r:id="rId21"/>
    <p:sldId id="385" r:id="rId22"/>
    <p:sldId id="384" r:id="rId23"/>
    <p:sldId id="386" r:id="rId24"/>
    <p:sldId id="387" r:id="rId25"/>
    <p:sldId id="388" r:id="rId26"/>
    <p:sldId id="390" r:id="rId27"/>
    <p:sldId id="393" r:id="rId28"/>
    <p:sldId id="389" r:id="rId29"/>
    <p:sldId id="391" r:id="rId30"/>
    <p:sldId id="392" r:id="rId31"/>
    <p:sldId id="394" r:id="rId32"/>
    <p:sldId id="395" r:id="rId33"/>
    <p:sldId id="396" r:id="rId34"/>
    <p:sldId id="397" r:id="rId35"/>
    <p:sldId id="398" r:id="rId36"/>
    <p:sldId id="399" r:id="rId37"/>
    <p:sldId id="401" r:id="rId38"/>
    <p:sldId id="402" r:id="rId39"/>
    <p:sldId id="400" r:id="rId40"/>
    <p:sldId id="403" r:id="rId41"/>
    <p:sldId id="405" r:id="rId42"/>
    <p:sldId id="404" r:id="rId43"/>
    <p:sldId id="406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FF21"/>
    <a:srgbClr val="373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2" autoAdjust="0"/>
    <p:restoredTop sz="94660"/>
  </p:normalViewPr>
  <p:slideViewPr>
    <p:cSldViewPr>
      <p:cViewPr>
        <p:scale>
          <a:sx n="100" d="100"/>
          <a:sy n="100" d="100"/>
        </p:scale>
        <p:origin x="-2010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FAE78-AAF8-4E5A-B86C-F99F7B1D631D}" type="datetimeFigureOut">
              <a:rPr lang="en-AU" smtClean="0"/>
              <a:t>29/05/2014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A3F6E-6CAF-4B31-937A-F5ACA55140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138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8800" y="4941168"/>
            <a:ext cx="2133600" cy="365125"/>
          </a:xfrm>
          <a:prstGeom prst="rect">
            <a:avLst/>
          </a:prstGeom>
        </p:spPr>
        <p:txBody>
          <a:bodyPr/>
          <a:lstStyle/>
          <a:p>
            <a:fld id="{498C85E5-0E1D-48C7-8C48-95D8705327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8800" y="4941168"/>
            <a:ext cx="2133600" cy="365125"/>
          </a:xfrm>
          <a:prstGeom prst="rect">
            <a:avLst/>
          </a:prstGeom>
        </p:spPr>
        <p:txBody>
          <a:bodyPr/>
          <a:lstStyle/>
          <a:p>
            <a:fld id="{498C85E5-0E1D-48C7-8C48-95D8705327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-108520" y="6592267"/>
            <a:ext cx="5941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8C85E5-0E1D-48C7-8C48-95D870532728}" type="slidenum">
              <a:rPr lang="en-US" sz="1000" smtClean="0"/>
              <a:pPr/>
              <a:t>‹#›</a:t>
            </a:fld>
            <a:r>
              <a:rPr lang="en-US" sz="1000" dirty="0" smtClean="0"/>
              <a:t>/43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191916" y="6525344"/>
            <a:ext cx="47601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Cliff Kerr | Using Optima for</a:t>
            </a:r>
            <a:r>
              <a:rPr lang="en-US" baseline="0" dirty="0" smtClean="0"/>
              <a:t> resource optimization</a:t>
            </a:r>
            <a:r>
              <a:rPr lang="en-US" dirty="0" smtClean="0"/>
              <a:t>| May 29, 2014, Almaty, Kazakhstan 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AU" sz="2800" dirty="0" smtClean="0">
              <a:solidFill>
                <a:schemeClr val="tx1"/>
              </a:solidFill>
            </a:endParaRPr>
          </a:p>
          <a:p>
            <a:r>
              <a:rPr lang="en-AU" sz="2800" dirty="0" smtClean="0">
                <a:solidFill>
                  <a:schemeClr val="tx1"/>
                </a:solidFill>
              </a:rPr>
              <a:t>Cliff C. Kerr, David P. Wilson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5" descr="Crest_monogram_colour[1]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5547070"/>
            <a:ext cx="3123076" cy="804420"/>
          </a:xfrm>
          <a:prstGeom prst="rect">
            <a:avLst/>
          </a:prstGeom>
          <a:noFill/>
        </p:spPr>
      </p:pic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5373216"/>
            <a:ext cx="1224136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</a:t>
            </a:r>
            <a:r>
              <a:rPr lang="en-US" i="1" dirty="0" smtClean="0"/>
              <a:t>Optima</a:t>
            </a:r>
            <a:r>
              <a:rPr lang="en-US" dirty="0" smtClean="0"/>
              <a:t> to optimize resource allocations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</a:p>
          <a:p>
            <a:r>
              <a:rPr lang="en-US" dirty="0" smtClean="0"/>
              <a:t>How </a:t>
            </a:r>
            <a:r>
              <a:rPr lang="en-US" i="1" dirty="0" smtClean="0"/>
              <a:t>Optima </a:t>
            </a:r>
            <a:r>
              <a:rPr lang="en-US" dirty="0" smtClean="0"/>
              <a:t>works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smtClean="0"/>
              <a:t>requirements for </a:t>
            </a:r>
            <a:r>
              <a:rPr lang="en-US" i="1" dirty="0" smtClean="0"/>
              <a:t>Optima</a:t>
            </a:r>
            <a:endParaRPr lang="en-US" dirty="0"/>
          </a:p>
          <a:p>
            <a:r>
              <a:rPr lang="en-US" dirty="0" smtClean="0"/>
              <a:t>Using </a:t>
            </a:r>
            <a:r>
              <a:rPr lang="en-US" i="1" dirty="0" smtClean="0"/>
              <a:t>Optima</a:t>
            </a:r>
            <a:r>
              <a:rPr lang="en-US" dirty="0" smtClean="0"/>
              <a:t> in practice</a:t>
            </a:r>
            <a:endParaRPr lang="en-US" dirty="0"/>
          </a:p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Background</a:t>
            </a:r>
          </a:p>
          <a:p>
            <a:r>
              <a:rPr lang="en-US" dirty="0" smtClean="0"/>
              <a:t>How </a:t>
            </a:r>
            <a:r>
              <a:rPr lang="en-US" i="1" dirty="0" smtClean="0"/>
              <a:t>Optima </a:t>
            </a:r>
            <a:r>
              <a:rPr lang="en-US" dirty="0" smtClean="0"/>
              <a:t>works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smtClean="0"/>
              <a:t>requirements for </a:t>
            </a:r>
            <a:r>
              <a:rPr lang="en-US" i="1" dirty="0" smtClean="0"/>
              <a:t>Optima</a:t>
            </a:r>
            <a:endParaRPr lang="en-US" dirty="0"/>
          </a:p>
          <a:p>
            <a:r>
              <a:rPr lang="en-US" dirty="0" smtClean="0"/>
              <a:t>Using </a:t>
            </a:r>
            <a:r>
              <a:rPr lang="en-US" i="1" dirty="0" smtClean="0"/>
              <a:t>Optima</a:t>
            </a:r>
            <a:r>
              <a:rPr lang="en-US" dirty="0" smtClean="0"/>
              <a:t> in practice</a:t>
            </a:r>
            <a:endParaRPr lang="en-US" dirty="0"/>
          </a:p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5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800" dirty="0" smtClean="0"/>
              <a:t>Public health evaluation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9093" y="1193129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Know your epidemic</a:t>
            </a:r>
            <a:endParaRPr lang="en-A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69093" y="2393773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   Know your response</a:t>
            </a:r>
            <a:endParaRPr lang="en-A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69093" y="3587108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      Evaluate response</a:t>
            </a:r>
            <a:endParaRPr lang="en-A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469093" y="4783156"/>
            <a:ext cx="2954052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         Refine response</a:t>
            </a:r>
            <a:endParaRPr lang="en-AU" sz="2000" dirty="0"/>
          </a:p>
        </p:txBody>
      </p:sp>
      <p:sp>
        <p:nvSpPr>
          <p:cNvPr id="11" name="Down Arrow 10"/>
          <p:cNvSpPr/>
          <p:nvPr/>
        </p:nvSpPr>
        <p:spPr>
          <a:xfrm>
            <a:off x="3009139" y="1668996"/>
            <a:ext cx="451262" cy="6182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2" name="Down Arrow 11"/>
          <p:cNvSpPr/>
          <p:nvPr/>
        </p:nvSpPr>
        <p:spPr>
          <a:xfrm>
            <a:off x="3316385" y="2869641"/>
            <a:ext cx="451262" cy="6109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3" name="Down Arrow 12"/>
          <p:cNvSpPr/>
          <p:nvPr/>
        </p:nvSpPr>
        <p:spPr>
          <a:xfrm>
            <a:off x="3604417" y="4062976"/>
            <a:ext cx="451262" cy="60626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4" name="U-Turn Arrow 13"/>
          <p:cNvSpPr/>
          <p:nvPr/>
        </p:nvSpPr>
        <p:spPr>
          <a:xfrm rot="16200000">
            <a:off x="192852" y="2566713"/>
            <a:ext cx="3964593" cy="1080656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16585" y="1228641"/>
            <a:ext cx="369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Epidemiological surveillance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585" y="2304992"/>
            <a:ext cx="3693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Program monitoring</a:t>
            </a:r>
          </a:p>
          <a:p>
            <a:r>
              <a:rPr lang="en-AU" dirty="0" smtClean="0"/>
              <a:t>Costing and spending assessments  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116585" y="3375503"/>
            <a:ext cx="3693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Impact evaluation</a:t>
            </a:r>
            <a:br>
              <a:rPr lang="en-AU" dirty="0" smtClean="0"/>
            </a:br>
            <a:r>
              <a:rPr lang="en-AU" dirty="0" err="1" smtClean="0"/>
              <a:t>Modeling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Health economics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5116585" y="4293096"/>
            <a:ext cx="3693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Development of national strategies</a:t>
            </a:r>
          </a:p>
          <a:p>
            <a:r>
              <a:rPr lang="en-AU" dirty="0" smtClean="0"/>
              <a:t>Determining resource needs</a:t>
            </a:r>
          </a:p>
          <a:p>
            <a:r>
              <a:rPr lang="en-AU" dirty="0"/>
              <a:t>Technical </a:t>
            </a:r>
            <a:r>
              <a:rPr lang="en-AU" dirty="0" smtClean="0"/>
              <a:t>efficiency</a:t>
            </a:r>
            <a:endParaRPr lang="en-AU" dirty="0"/>
          </a:p>
          <a:p>
            <a:r>
              <a:rPr lang="en-AU" dirty="0" err="1" smtClean="0"/>
              <a:t>Allocative</a:t>
            </a:r>
            <a:r>
              <a:rPr lang="en-AU" dirty="0" smtClean="0"/>
              <a:t> efficiency </a:t>
            </a:r>
          </a:p>
          <a:p>
            <a:r>
              <a:rPr lang="en-AU" dirty="0" smtClean="0"/>
              <a:t>Sustainable Financing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536" y="2746171"/>
            <a:ext cx="1246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Monitoring &amp; evaluation strategy</a:t>
            </a:r>
            <a:endParaRPr lang="en-AU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4900561" y="1268760"/>
            <a:ext cx="0" cy="4180087"/>
          </a:xfrm>
          <a:prstGeom prst="line">
            <a:avLst/>
          </a:prstGeom>
          <a:ln w="19050" cap="rnd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860032" y="2889767"/>
            <a:ext cx="144016" cy="1259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28" name="Rectangle 27"/>
          <p:cNvSpPr/>
          <p:nvPr/>
        </p:nvSpPr>
        <p:spPr>
          <a:xfrm>
            <a:off x="4860032" y="4149080"/>
            <a:ext cx="72008" cy="1580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37343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7" grpId="1"/>
      <p:bldP spid="18" grpId="0"/>
      <p:bldP spid="19" grpId="0"/>
      <p:bldP spid="23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800" dirty="0"/>
              <a:t>Public health evaluation process</a:t>
            </a:r>
            <a:endParaRPr lang="en-US" sz="2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469093" y="1193129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Know your epidemic</a:t>
            </a:r>
            <a:endParaRPr lang="en-A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469093" y="2393773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   Know your response</a:t>
            </a:r>
            <a:endParaRPr lang="en-A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69093" y="3587108"/>
            <a:ext cx="2954053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FF0000"/>
                </a:solidFill>
              </a:rPr>
              <a:t>      Evaluate response</a:t>
            </a:r>
            <a:endParaRPr lang="en-AU" sz="2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9093" y="4783156"/>
            <a:ext cx="2954052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FF0000"/>
                </a:solidFill>
              </a:rPr>
              <a:t>         Refine response</a:t>
            </a:r>
            <a:endParaRPr lang="en-AU" sz="2000" dirty="0">
              <a:solidFill>
                <a:srgbClr val="FF0000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3009139" y="1668996"/>
            <a:ext cx="451262" cy="6182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2" name="Down Arrow 11"/>
          <p:cNvSpPr/>
          <p:nvPr/>
        </p:nvSpPr>
        <p:spPr>
          <a:xfrm>
            <a:off x="3316385" y="2869641"/>
            <a:ext cx="451262" cy="6109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3" name="Down Arrow 12"/>
          <p:cNvSpPr/>
          <p:nvPr/>
        </p:nvSpPr>
        <p:spPr>
          <a:xfrm>
            <a:off x="3604417" y="4062976"/>
            <a:ext cx="451262" cy="60626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/>
          </a:p>
        </p:txBody>
      </p:sp>
      <p:sp>
        <p:nvSpPr>
          <p:cNvPr id="14" name="U-Turn Arrow 13"/>
          <p:cNvSpPr/>
          <p:nvPr/>
        </p:nvSpPr>
        <p:spPr>
          <a:xfrm rot="16200000">
            <a:off x="192852" y="2566713"/>
            <a:ext cx="3964593" cy="1080656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16585" y="1228641"/>
            <a:ext cx="369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Epidemiological surveillance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585" y="2304992"/>
            <a:ext cx="3693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Program monitoring</a:t>
            </a:r>
          </a:p>
          <a:p>
            <a:r>
              <a:rPr lang="en-AU" dirty="0" smtClean="0"/>
              <a:t>Costing and spending assessments  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116585" y="3375503"/>
            <a:ext cx="3693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Impact evaluation</a:t>
            </a:r>
            <a:br>
              <a:rPr lang="en-AU" dirty="0" smtClean="0">
                <a:solidFill>
                  <a:srgbClr val="FF0000"/>
                </a:solidFill>
              </a:rPr>
            </a:br>
            <a:r>
              <a:rPr lang="en-AU" dirty="0" err="1" smtClean="0">
                <a:solidFill>
                  <a:srgbClr val="FF0000"/>
                </a:solidFill>
              </a:rPr>
              <a:t>Modeling</a:t>
            </a:r>
            <a:r>
              <a:rPr lang="en-AU" dirty="0" smtClean="0">
                <a:solidFill>
                  <a:srgbClr val="FF0000"/>
                </a:solidFill>
              </a:rPr>
              <a:t/>
            </a:r>
            <a:br>
              <a:rPr lang="en-AU" dirty="0" smtClean="0">
                <a:solidFill>
                  <a:srgbClr val="FF0000"/>
                </a:solidFill>
              </a:rPr>
            </a:br>
            <a:r>
              <a:rPr lang="en-AU" dirty="0" smtClean="0">
                <a:solidFill>
                  <a:srgbClr val="FF0000"/>
                </a:solidFill>
              </a:rPr>
              <a:t>Health economics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16585" y="4293096"/>
            <a:ext cx="3693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Development of national strategies</a:t>
            </a:r>
          </a:p>
          <a:p>
            <a:r>
              <a:rPr lang="en-AU" dirty="0" smtClean="0"/>
              <a:t>Determining resource needs</a:t>
            </a:r>
          </a:p>
          <a:p>
            <a:r>
              <a:rPr lang="en-AU" dirty="0"/>
              <a:t>Technical </a:t>
            </a:r>
            <a:r>
              <a:rPr lang="en-AU" dirty="0" smtClean="0"/>
              <a:t>efficiency</a:t>
            </a:r>
            <a:endParaRPr lang="en-AU" dirty="0"/>
          </a:p>
          <a:p>
            <a:r>
              <a:rPr lang="en-AU" dirty="0" err="1" smtClean="0">
                <a:solidFill>
                  <a:srgbClr val="FF0000"/>
                </a:solidFill>
              </a:rPr>
              <a:t>Allocative</a:t>
            </a:r>
            <a:r>
              <a:rPr lang="en-AU" dirty="0" smtClean="0">
                <a:solidFill>
                  <a:srgbClr val="FF0000"/>
                </a:solidFill>
              </a:rPr>
              <a:t> efficiency </a:t>
            </a:r>
          </a:p>
          <a:p>
            <a:r>
              <a:rPr lang="en-AU" dirty="0" smtClean="0"/>
              <a:t>Sustainable Financing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536" y="2746171"/>
            <a:ext cx="1246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Monitoring &amp; evaluation strategy</a:t>
            </a:r>
            <a:endParaRPr lang="en-AU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4900561" y="1268760"/>
            <a:ext cx="0" cy="4180087"/>
          </a:xfrm>
          <a:prstGeom prst="line">
            <a:avLst/>
          </a:prstGeom>
          <a:ln w="19050" cap="rnd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000" dirty="0">
                <a:latin typeface="Arial" charset="0"/>
                <a:cs typeface="Arial" charset="0"/>
              </a:rPr>
              <a:t>Difficult time for global response to HIV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011" y="1484784"/>
            <a:ext cx="8728483" cy="4840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380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HIV responses need to be done smarter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556792"/>
            <a:ext cx="61436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386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 smtClean="0"/>
              <a:t>What should we spend money on?</a:t>
            </a:r>
            <a:endParaRPr lang="en-AU" sz="4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Understand your epidemic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>
                <a:latin typeface="Arial" pitchFamily="34" charset="0"/>
                <a:cs typeface="Arial" pitchFamily="34" charset="0"/>
              </a:rPr>
              <a:t>Where is the epidemic? Among whom? Where is it going?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Is money being allocated to the groups most in need?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Design your response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well is the response matched to the epidemic? </a:t>
            </a:r>
            <a:endParaRPr lang="en-AU" sz="22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many more infections could be averted with an optimized response? </a:t>
            </a:r>
            <a:endParaRPr lang="en-AU" sz="22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Determine the cost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much will the response cost? How can it be financed? What are the fiscal space implications?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2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 smtClean="0"/>
              <a:t>What should we spend money on?</a:t>
            </a:r>
            <a:endParaRPr lang="en-AU" sz="4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Understand your epidemic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>
                <a:latin typeface="Arial" pitchFamily="34" charset="0"/>
                <a:cs typeface="Arial" pitchFamily="34" charset="0"/>
              </a:rPr>
              <a:t>Where is the epidemic? Among whom? Where is it going?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 money being allocated to the groups most in need?</a:t>
            </a:r>
            <a:endParaRPr lang="en-AU" sz="2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Design your response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well is the response matched to the epidemic? </a:t>
            </a:r>
            <a:endParaRPr lang="en-AU" sz="22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many more infections could be averted with an optimized response? </a:t>
            </a:r>
            <a:endParaRPr lang="en-AU" sz="22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Determine the cost</a:t>
            </a:r>
            <a:endParaRPr lang="en-AU" sz="22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200" dirty="0" smtClean="0">
                <a:latin typeface="Arial" pitchFamily="34" charset="0"/>
                <a:cs typeface="Arial" pitchFamily="34" charset="0"/>
              </a:rPr>
              <a:t>How </a:t>
            </a:r>
            <a:r>
              <a:rPr lang="en-AU" sz="2200" dirty="0">
                <a:latin typeface="Arial" pitchFamily="34" charset="0"/>
                <a:cs typeface="Arial" pitchFamily="34" charset="0"/>
              </a:rPr>
              <a:t>much will the response cost? How can it be financed? What are the fiscal space implications?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6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Smart resource allocation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Resources should be allocated towards interventions that have evidence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being the most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cost-effective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Allocation decisions should be done strategically to have the greatest chance of </a:t>
            </a:r>
            <a:r>
              <a:rPr lang="en-AU" sz="2400" smtClean="0">
                <a:latin typeface="Arial" pitchFamily="34" charset="0"/>
                <a:cs typeface="Arial" pitchFamily="34" charset="0"/>
              </a:rPr>
              <a:t>meeting </a:t>
            </a:r>
            <a:r>
              <a:rPr lang="en-AU" sz="2400" smtClean="0">
                <a:latin typeface="Arial" pitchFamily="34" charset="0"/>
                <a:cs typeface="Arial" pitchFamily="34" charset="0"/>
              </a:rPr>
              <a:t>the desired objectives</a:t>
            </a:r>
            <a:endParaRPr lang="en-AU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35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What is the overall objective?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Necessary to define the objective, e.g.: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Minimizing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new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infections: all funding would go to the most effective prevention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Minimizing AIDS-related deaths: all funding would go to treatment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Minimizing spending: could lead to a combination of prevention and treatment (depending on timeframe)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Other possible objectives: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Minimize overall disease burden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Provide equal access or impact across groups</a:t>
            </a:r>
          </a:p>
        </p:txBody>
      </p:sp>
    </p:spTree>
    <p:extLst>
      <p:ext uri="{BB962C8B-B14F-4D97-AF65-F5344CB8AC3E}">
        <p14:creationId xmlns:p14="http://schemas.microsoft.com/office/powerpoint/2010/main" val="200335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Three separate objectives considered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With the current available budget, how should funding be allocated across HIV programs to minimize the number of new infections over the next 5 years?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With the current budget, how should funding be allocated to minimize DALYs over the next 5 years?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>
                <a:latin typeface="Arial" pitchFamily="34" charset="0"/>
                <a:cs typeface="Arial" pitchFamily="34" charset="0"/>
              </a:rPr>
              <a:t>What is the minimum amount of money required to reduce population incidence by 50% by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2020?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1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How </a:t>
            </a:r>
            <a:r>
              <a:rPr lang="en-US" i="1" dirty="0" smtClean="0">
                <a:solidFill>
                  <a:srgbClr val="FFC000"/>
                </a:solidFill>
              </a:rPr>
              <a:t>Optima </a:t>
            </a:r>
            <a:r>
              <a:rPr lang="en-US" dirty="0" smtClean="0">
                <a:solidFill>
                  <a:srgbClr val="FFC000"/>
                </a:solidFill>
              </a:rPr>
              <a:t>works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dirty="0"/>
              <a:t>Data </a:t>
            </a:r>
            <a:r>
              <a:rPr lang="en-US" dirty="0" smtClean="0"/>
              <a:t>requirements for </a:t>
            </a:r>
            <a:r>
              <a:rPr lang="en-US" i="1" dirty="0" smtClean="0"/>
              <a:t>Optima</a:t>
            </a:r>
            <a:endParaRPr lang="en-US" dirty="0"/>
          </a:p>
          <a:p>
            <a:r>
              <a:rPr lang="en-US" dirty="0" smtClean="0"/>
              <a:t>Using </a:t>
            </a:r>
            <a:r>
              <a:rPr lang="en-US" i="1" dirty="0" smtClean="0"/>
              <a:t>Optima</a:t>
            </a:r>
            <a:r>
              <a:rPr lang="en-US" dirty="0" smtClean="0"/>
              <a:t> in practice</a:t>
            </a:r>
            <a:endParaRPr lang="en-US" dirty="0"/>
          </a:p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26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Mathematical optimization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The “best” allocation can be formally determined via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m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athematical optimization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Each objective can be described mathematically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All of the variables that influence the objective function are included in the mathematical model</a:t>
            </a:r>
          </a:p>
        </p:txBody>
      </p:sp>
    </p:spTree>
    <p:extLst>
      <p:ext uri="{BB962C8B-B14F-4D97-AF65-F5344CB8AC3E}">
        <p14:creationId xmlns:p14="http://schemas.microsoft.com/office/powerpoint/2010/main" val="164666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Mathematical objective function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980728"/>
            <a:ext cx="8686800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Schematic shown below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Vertical dimension is the objective – to find the maximum or minimum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Horizontal axes represent input variables (e.g. program spending)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In reality, 8-12 dimensional space (cannot be visualized)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0420"/>
            <a:ext cx="4509923" cy="3438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959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980728"/>
            <a:ext cx="8686800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Formal mathematical approach taken to find the optimal solution to meet the objective according to the underlying assumptions</a:t>
            </a:r>
            <a:endParaRPr lang="en-AU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82" y="2539554"/>
            <a:ext cx="8480990" cy="247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Mathematical objective function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8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Mathematical epidemiological models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The mountains and valleys in the objective function plot are based on: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>
                <a:latin typeface="Arial" pitchFamily="34" charset="0"/>
                <a:cs typeface="Arial" pitchFamily="34" charset="0"/>
              </a:rPr>
              <a:t>H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ow money spent on each program effects </a:t>
            </a:r>
            <a:r>
              <a:rPr lang="en-AU" sz="2400" dirty="0" err="1" smtClean="0">
                <a:latin typeface="Arial" pitchFamily="34" charset="0"/>
                <a:cs typeface="Arial" pitchFamily="34" charset="0"/>
              </a:rPr>
              <a:t>behavior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 or clinical outcomes</a:t>
            </a:r>
            <a:endParaRPr lang="en-AU" sz="2400" i="1" u="sng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How important those </a:t>
            </a:r>
            <a:r>
              <a:rPr lang="en-AU" sz="2400" dirty="0" err="1" smtClean="0">
                <a:latin typeface="Arial" pitchFamily="34" charset="0"/>
                <a:cs typeface="Arial" pitchFamily="34" charset="0"/>
              </a:rPr>
              <a:t>behaviors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/clinical outcomes are for the epidemic</a:t>
            </a:r>
          </a:p>
        </p:txBody>
      </p:sp>
    </p:spTree>
    <p:extLst>
      <p:ext uri="{BB962C8B-B14F-4D97-AF65-F5344CB8AC3E}">
        <p14:creationId xmlns:p14="http://schemas.microsoft.com/office/powerpoint/2010/main" val="13253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Mathematical epidemiological models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340768"/>
            <a:ext cx="8507288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Mathematical models are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analytical tools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attempt to link individual behaviors </a:t>
            </a:r>
            <a:br>
              <a:rPr lang="en-US" sz="2400" dirty="0">
                <a:latin typeface="Arial" pitchFamily="34" charset="0"/>
                <a:cs typeface="Arial" pitchFamily="34" charset="0"/>
              </a:rPr>
            </a:br>
            <a:r>
              <a:rPr lang="en-US" sz="2400" dirty="0">
                <a:latin typeface="Arial" pitchFamily="34" charset="0"/>
                <a:cs typeface="Arial" pitchFamily="34" charset="0"/>
              </a:rPr>
              <a:t>(such as type of contact and exposure)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to population-level measures </a:t>
            </a:r>
            <a:br>
              <a:rPr lang="en-US" sz="2400" dirty="0">
                <a:latin typeface="Arial" pitchFamily="34" charset="0"/>
                <a:cs typeface="Arial" pitchFamily="34" charset="0"/>
              </a:rPr>
            </a:br>
            <a:r>
              <a:rPr lang="en-US" sz="2400" dirty="0">
                <a:latin typeface="Arial" pitchFamily="34" charset="0"/>
                <a:cs typeface="Arial" pitchFamily="34" charset="0"/>
              </a:rPr>
              <a:t>(such as prevalence and incidence)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Models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attempt to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track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transmission between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people or the number of events in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 population and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natural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history of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disease progression, initiation of treatment, including morbidity and mortality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83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AU" sz="3400" dirty="0" smtClean="0">
                <a:latin typeface="Arial" pitchFamily="34" charset="0"/>
                <a:cs typeface="Arial" pitchFamily="34" charset="0"/>
              </a:rPr>
              <a:t>Optima: model structure</a:t>
            </a:r>
            <a:endParaRPr lang="en-AU" sz="3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1" y="2852936"/>
            <a:ext cx="8837149" cy="3312368"/>
          </a:xfrm>
          <a:prstGeom prst="rect">
            <a:avLst/>
          </a:prstGeom>
          <a:ln w="19050">
            <a:noFill/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01781" y="1340768"/>
            <a:ext cx="8762707" cy="468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Describes transmission, diagnosis, initiation of treatment and treatment failure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>
                <a:latin typeface="Arial" pitchFamily="34" charset="0"/>
                <a:cs typeface="Arial" pitchFamily="34" charset="0"/>
              </a:rPr>
              <a:t>Prevention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(circumcision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condoms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etc.) influences transmission rate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Tracks people by population group (e.g., MSM, FSW) and CD4 count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61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0" y="274638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Model calibration to epidemiological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data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(e.g. Armenia)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17638"/>
            <a:ext cx="7488832" cy="49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2571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74638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projection of epidemic trends (Armenia)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88840"/>
            <a:ext cx="774086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8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2571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74638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projection of epidemic trends (Armenia)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636" y="1988840"/>
            <a:ext cx="774086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6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Assumed cost-outcome curves</a:t>
            </a:r>
            <a:br>
              <a:rPr lang="en-US" sz="3600" dirty="0" smtClean="0"/>
            </a:br>
            <a:r>
              <a:rPr lang="en-US" sz="3600" dirty="0" smtClean="0"/>
              <a:t>(Armenia)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1043608" y="1484784"/>
            <a:ext cx="7200800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6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Assumed cost-outcome curves</a:t>
            </a:r>
            <a:br>
              <a:rPr lang="en-US" sz="3600" dirty="0" smtClean="0"/>
            </a:br>
            <a:r>
              <a:rPr lang="en-US" sz="3600" dirty="0" smtClean="0"/>
              <a:t>(Armenia)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043608" y="1556792"/>
            <a:ext cx="7056784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How </a:t>
            </a:r>
            <a:r>
              <a:rPr lang="en-US" i="1" dirty="0" smtClean="0">
                <a:solidFill>
                  <a:schemeClr val="bg1">
                    <a:lumMod val="85000"/>
                  </a:schemeClr>
                </a:solidFill>
              </a:rPr>
              <a:t>Optima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works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Data requirements for </a:t>
            </a:r>
            <a:r>
              <a:rPr lang="en-US" i="1" dirty="0">
                <a:solidFill>
                  <a:srgbClr val="FFC000"/>
                </a:solidFill>
              </a:rPr>
              <a:t>Optima</a:t>
            </a:r>
          </a:p>
          <a:p>
            <a:r>
              <a:rPr lang="en-US" dirty="0" smtClean="0"/>
              <a:t>Using </a:t>
            </a:r>
            <a:r>
              <a:rPr lang="en-US" i="1" dirty="0" smtClean="0"/>
              <a:t>Optima</a:t>
            </a:r>
            <a:r>
              <a:rPr lang="en-US" dirty="0" smtClean="0"/>
              <a:t> in practice</a:t>
            </a:r>
            <a:endParaRPr lang="en-US" dirty="0"/>
          </a:p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7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smtClean="0"/>
              <a:t>Optima</a:t>
            </a:r>
            <a:r>
              <a:rPr lang="en-US" dirty="0" smtClean="0"/>
              <a:t> models can be made more or less complex depending on data availability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.g. IDUs can be split into males and females if there is data to distinguish them</a:t>
            </a:r>
          </a:p>
          <a:p>
            <a:r>
              <a:rPr lang="en-US" dirty="0" smtClean="0"/>
              <a:t>Critical data requirements: population size and prevalence for each population</a:t>
            </a:r>
          </a:p>
          <a:p>
            <a:r>
              <a:rPr lang="en-US" dirty="0" smtClean="0"/>
              <a:t>Other parameters can be estimated from similar settings if required</a:t>
            </a:r>
          </a:p>
          <a:p>
            <a:r>
              <a:rPr lang="en-US" i="1" smtClean="0"/>
              <a:t>Optima</a:t>
            </a:r>
            <a:r>
              <a:rPr lang="en-US" smtClean="0"/>
              <a:t> allows </a:t>
            </a:r>
            <a:r>
              <a:rPr lang="en-US" dirty="0" smtClean="0"/>
              <a:t>uncertainties to be entered (if available)</a:t>
            </a:r>
          </a:p>
        </p:txBody>
      </p:sp>
    </p:spTree>
    <p:extLst>
      <p:ext uri="{BB962C8B-B14F-4D97-AF65-F5344CB8AC3E}">
        <p14:creationId xmlns:p14="http://schemas.microsoft.com/office/powerpoint/2010/main" val="137057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data entry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40768"/>
            <a:ext cx="883426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2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the model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720174"/>
              </p:ext>
            </p:extLst>
          </p:nvPr>
        </p:nvGraphicFramePr>
        <p:xfrm>
          <a:off x="287523" y="1628801"/>
          <a:ext cx="8568954" cy="40845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5370"/>
                <a:gridCol w="2679229"/>
                <a:gridCol w="2538949"/>
                <a:gridCol w="2255406"/>
              </a:tblGrid>
              <a:tr h="2346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Biological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Behavioral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Epidemiological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/>
                </a:tc>
              </a:tr>
              <a:tr h="4692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Population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>
                    <a:solidFill>
                      <a:srgbClr val="3964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Background death rate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Population sizes (TP)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</a:tr>
              <a:tr h="140769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HIV-related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Sexual HIV transmissibilities* (H)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STI-related transmissibility increase*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Condom efficacy*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Circumcision efficacy*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HIV health state progression rates (H)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HIV-related death rates (H)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Number of sexual partners* (TPS)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Number of acts per partner* (S)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Condom usage probability* (TP)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Circumcision probability* (T)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HIV prevalence (TP)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STI prevalence (TP)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</a:tr>
              <a:tr h="491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MTCT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>
                    <a:solidFill>
                      <a:srgbClr val="3964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Mother-to-child transmission probability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Birth rate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PMTCT access rate (T)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</a:tr>
              <a:tr h="9384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Injection-related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Injecting HIV transmissibility*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Syringe cleaning efficacy*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Drug-related death rate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Number of injections* (T)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Syringe sharing probability* (T)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Syringe cleaning probability*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Methadone treatment probability (T)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</a:tr>
              <a:tr h="491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Treatment parameters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>
                    <a:solidFill>
                      <a:srgbClr val="3964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ART efficacy*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ART failure rates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HIV testing rates (TPH)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Number of people on ART (T)</a:t>
                      </a:r>
                      <a:endParaRPr lang="en-US" sz="1300" dirty="0">
                        <a:effectLst/>
                        <a:latin typeface="Garamond"/>
                        <a:ea typeface="Garamond"/>
                        <a:cs typeface="Garamond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6738" y="26939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776" y="5858108"/>
            <a:ext cx="8622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 = parameter value changes over time; P = parameter value depends on population group; H = parameter depends on health state; S = parameter depends on sexual partnership type; * = parameter is used to calculate the force-of-infection.</a:t>
            </a:r>
          </a:p>
        </p:txBody>
      </p:sp>
    </p:spTree>
    <p:extLst>
      <p:ext uri="{BB962C8B-B14F-4D97-AF65-F5344CB8AC3E}">
        <p14:creationId xmlns:p14="http://schemas.microsoft.com/office/powerpoint/2010/main" val="231572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Demographic/prevalence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Population size</a:t>
            </a:r>
          </a:p>
          <a:p>
            <a:pPr lvl="1"/>
            <a:r>
              <a:rPr lang="en-US" dirty="0" smtClean="0"/>
              <a:t>Critical for determining PLHIV, incidence, etc.</a:t>
            </a:r>
          </a:p>
          <a:p>
            <a:pPr lvl="1"/>
            <a:r>
              <a:rPr lang="en-US" dirty="0" smtClean="0"/>
              <a:t>For some high-risk populations, can be estimated (e.g. MSM = 1-3% of male population)</a:t>
            </a:r>
          </a:p>
          <a:p>
            <a:r>
              <a:rPr lang="en-US" dirty="0" smtClean="0"/>
              <a:t>HIV prevalence</a:t>
            </a:r>
          </a:p>
          <a:p>
            <a:pPr lvl="1"/>
            <a:r>
              <a:rPr lang="en-US" dirty="0" smtClean="0"/>
              <a:t>Most critical parameter for entire modeling approach</a:t>
            </a:r>
          </a:p>
          <a:p>
            <a:pPr lvl="1"/>
            <a:r>
              <a:rPr lang="en-US" dirty="0" smtClean="0"/>
              <a:t>A single time point can be used, but multiple time points (e.g. 2006, 2011) necessary to understand epidemic trends</a:t>
            </a:r>
          </a:p>
          <a:p>
            <a:r>
              <a:rPr lang="en-US" dirty="0" smtClean="0"/>
              <a:t>(Ulcerative) STI prevalence</a:t>
            </a:r>
          </a:p>
          <a:p>
            <a:pPr lvl="1"/>
            <a:r>
              <a:rPr lang="en-US" dirty="0" smtClean="0"/>
              <a:t>Less important; can be estimated from comparable settings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9564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&amp; 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of people on treatment, PMTCT</a:t>
            </a:r>
          </a:p>
          <a:p>
            <a:pPr lvl="1"/>
            <a:r>
              <a:rPr lang="en-US" dirty="0" smtClean="0"/>
              <a:t>Usually known exactly</a:t>
            </a:r>
          </a:p>
          <a:p>
            <a:r>
              <a:rPr lang="en-US" dirty="0" smtClean="0"/>
              <a:t>Number of diagnoses per year</a:t>
            </a:r>
          </a:p>
          <a:p>
            <a:pPr lvl="1"/>
            <a:r>
              <a:rPr lang="en-US" dirty="0" smtClean="0"/>
              <a:t>Usually also known exactly</a:t>
            </a:r>
          </a:p>
          <a:p>
            <a:r>
              <a:rPr lang="en-US" dirty="0" smtClean="0"/>
              <a:t>Testing &amp; treatment rates</a:t>
            </a:r>
          </a:p>
          <a:p>
            <a:pPr lvl="1"/>
            <a:r>
              <a:rPr lang="en-US" dirty="0" smtClean="0"/>
              <a:t>Usually not known, but </a:t>
            </a:r>
            <a:r>
              <a:rPr lang="en-US" i="1" dirty="0" smtClean="0"/>
              <a:t>Optima</a:t>
            </a:r>
            <a:r>
              <a:rPr lang="en-US" dirty="0" smtClean="0"/>
              <a:t> can estimate them from diagnoses &amp; treatment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363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8725"/>
            <a:ext cx="8229600" cy="522461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Number of regular, casual, commercial sex acts</a:t>
            </a:r>
          </a:p>
          <a:p>
            <a:pPr lvl="1"/>
            <a:r>
              <a:rPr lang="en-US" dirty="0" smtClean="0"/>
              <a:t>Typically estimated from surveys</a:t>
            </a:r>
          </a:p>
          <a:p>
            <a:pPr lvl="1"/>
            <a:r>
              <a:rPr lang="en-US" dirty="0" smtClean="0"/>
              <a:t>Very uncertain, but regional estimates can be used</a:t>
            </a:r>
          </a:p>
          <a:p>
            <a:r>
              <a:rPr lang="en-US" dirty="0" smtClean="0"/>
              <a:t>Condom use for </a:t>
            </a:r>
            <a:r>
              <a:rPr lang="en-US" dirty="0"/>
              <a:t>regular, casual, </a:t>
            </a:r>
            <a:r>
              <a:rPr lang="en-US" dirty="0" smtClean="0"/>
              <a:t>and commercial sex</a:t>
            </a:r>
          </a:p>
          <a:p>
            <a:pPr lvl="1"/>
            <a:r>
              <a:rPr lang="en-US" dirty="0" smtClean="0"/>
              <a:t>Also uncertain, also usually estimated from surveys</a:t>
            </a:r>
          </a:p>
          <a:p>
            <a:r>
              <a:rPr lang="en-US" dirty="0" smtClean="0"/>
              <a:t>Circumcision</a:t>
            </a:r>
          </a:p>
          <a:p>
            <a:pPr lvl="1"/>
            <a:r>
              <a:rPr lang="en-US" dirty="0" smtClean="0"/>
              <a:t>Usually fairly constant with time, so easily estimated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904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Drug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Only relevant for countries in which IDUs are important to the epidemic</a:t>
            </a:r>
          </a:p>
          <a:p>
            <a:r>
              <a:rPr lang="en-US" dirty="0" smtClean="0"/>
              <a:t>Number of injections</a:t>
            </a:r>
          </a:p>
          <a:p>
            <a:pPr lvl="1"/>
            <a:r>
              <a:rPr lang="en-US" dirty="0" smtClean="0"/>
              <a:t>Hard to estimate</a:t>
            </a:r>
          </a:p>
          <a:p>
            <a:pPr lvl="1"/>
            <a:r>
              <a:rPr lang="en-US" dirty="0" smtClean="0"/>
              <a:t>Depends on heroin availability</a:t>
            </a:r>
          </a:p>
          <a:p>
            <a:r>
              <a:rPr lang="en-US" dirty="0" smtClean="0"/>
              <a:t>Syringe sharing rate</a:t>
            </a:r>
          </a:p>
          <a:p>
            <a:pPr lvl="1"/>
            <a:r>
              <a:rPr lang="en-US" dirty="0" smtClean="0"/>
              <a:t>Very difficult to estimate, but the critical parameter for this population</a:t>
            </a:r>
          </a:p>
          <a:p>
            <a:pPr lvl="1"/>
            <a:r>
              <a:rPr lang="en-US" dirty="0" smtClean="0"/>
              <a:t>Multiple data points important to understand IDU trends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44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Partnerships &amp; transitions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Important to understand who forms partnerships with whom</a:t>
            </a:r>
          </a:p>
          <a:p>
            <a:pPr lvl="1"/>
            <a:r>
              <a:rPr lang="en-US" dirty="0" smtClean="0"/>
              <a:t>e.g. do male IDUs preferentially have sexual relationships with female IDUs?</a:t>
            </a:r>
          </a:p>
          <a:p>
            <a:pPr lvl="1"/>
            <a:r>
              <a:rPr lang="en-US" dirty="0" smtClean="0"/>
              <a:t>Default assumption: all male populations (except MSM) partner with all female</a:t>
            </a:r>
          </a:p>
          <a:p>
            <a:r>
              <a:rPr lang="en-US" dirty="0" smtClean="0"/>
              <a:t>Optima also allows transitions between populations</a:t>
            </a:r>
          </a:p>
          <a:p>
            <a:pPr lvl="1"/>
            <a:r>
              <a:rPr lang="en-US" dirty="0" smtClean="0"/>
              <a:t>e.g. FSW can return to the low-risk population and vice versa</a:t>
            </a:r>
          </a:p>
          <a:p>
            <a:pPr lvl="1"/>
            <a:r>
              <a:rPr lang="en-US" dirty="0" smtClean="0"/>
              <a:t>Rates are usually not measured, but can be estimated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26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Economic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Most important economic data is program spend</a:t>
            </a:r>
          </a:p>
          <a:p>
            <a:r>
              <a:rPr lang="en-US" dirty="0" smtClean="0"/>
              <a:t>Usually obtained from NASA (National AIDS Spending Assessment) reports</a:t>
            </a:r>
          </a:p>
          <a:p>
            <a:r>
              <a:rPr lang="en-US" dirty="0" smtClean="0"/>
              <a:t>Multiple years of comparison between NASA &amp; behavioral data are required to accurately produce cost-outcome curves</a:t>
            </a:r>
          </a:p>
          <a:p>
            <a:pPr lvl="1"/>
            <a:r>
              <a:rPr lang="en-US" dirty="0" smtClean="0"/>
              <a:t>If not available, can be estimated from regional sources</a:t>
            </a:r>
          </a:p>
          <a:p>
            <a:r>
              <a:rPr lang="en-US" dirty="0"/>
              <a:t>For calculating program cost-effectiveness and return-on-investment, cost of treating PLHIV per CD4 count is required</a:t>
            </a:r>
          </a:p>
        </p:txBody>
      </p:sp>
    </p:spTree>
    <p:extLst>
      <p:ext uri="{BB962C8B-B14F-4D97-AF65-F5344CB8AC3E}">
        <p14:creationId xmlns:p14="http://schemas.microsoft.com/office/powerpoint/2010/main" val="2604272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For calculating quality- or disability-adjusted life years (QALYs &amp; DALYs), the health utilities for each state (e.g. untreated HIV, CD4&lt;200) are required</a:t>
            </a:r>
          </a:p>
          <a:p>
            <a:pPr lvl="1"/>
            <a:r>
              <a:rPr lang="en-US" dirty="0" smtClean="0"/>
              <a:t>Similar across all countries</a:t>
            </a:r>
          </a:p>
          <a:p>
            <a:r>
              <a:rPr lang="en-US" dirty="0" smtClean="0"/>
              <a:t>Biological data (e.g. infectiousness per unprotected act) not needed on a per-country basis</a:t>
            </a:r>
          </a:p>
          <a:p>
            <a:pPr lvl="1"/>
            <a:r>
              <a:rPr lang="en-US" dirty="0" smtClean="0"/>
              <a:t>Except in special circumstances, e.g. more/less virulent strains of HIV in some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34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How </a:t>
            </a:r>
            <a:r>
              <a:rPr lang="en-US" i="1" dirty="0" smtClean="0">
                <a:solidFill>
                  <a:schemeClr val="bg1">
                    <a:lumMod val="85000"/>
                  </a:schemeClr>
                </a:solidFill>
              </a:rPr>
              <a:t>Optima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works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requirements for 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Optima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Using </a:t>
            </a:r>
            <a:r>
              <a:rPr lang="en-US" i="1" dirty="0" smtClean="0">
                <a:solidFill>
                  <a:srgbClr val="FFC000"/>
                </a:solidFill>
              </a:rPr>
              <a:t>Optima</a:t>
            </a:r>
            <a:r>
              <a:rPr lang="en-US" dirty="0" smtClean="0">
                <a:solidFill>
                  <a:srgbClr val="FFC000"/>
                </a:solidFill>
              </a:rPr>
              <a:t> in practice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21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</a:t>
            </a:r>
            <a:r>
              <a:rPr lang="en-US" i="1" dirty="0" smtClean="0"/>
              <a:t>Optima</a:t>
            </a:r>
            <a:r>
              <a:rPr lang="en-US" dirty="0" smtClean="0"/>
              <a:t> used?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Step 1: collect data and fill out spreadsheet</a:t>
            </a:r>
          </a:p>
          <a:p>
            <a:pPr lvl="1"/>
            <a:r>
              <a:rPr lang="en-US" dirty="0" smtClean="0"/>
              <a:t>Unknown data can be left blank</a:t>
            </a:r>
          </a:p>
          <a:p>
            <a:pPr lvl="1"/>
            <a:r>
              <a:rPr lang="en-US" dirty="0" smtClean="0"/>
              <a:t>If any essential quantities are unknown, they are best estimated in collaboration with key stakeholders</a:t>
            </a:r>
          </a:p>
          <a:p>
            <a:pPr lvl="1"/>
            <a:r>
              <a:rPr lang="en-US" dirty="0" smtClean="0"/>
              <a:t>Prevalence data is </a:t>
            </a:r>
            <a:r>
              <a:rPr lang="en-US" i="1" dirty="0" smtClean="0"/>
              <a:t>essential</a:t>
            </a:r>
            <a:r>
              <a:rPr lang="en-US" dirty="0" smtClean="0"/>
              <a:t> to fill out as accurately &amp; completely as possible</a:t>
            </a:r>
          </a:p>
          <a:p>
            <a:r>
              <a:rPr lang="en-US" dirty="0" smtClean="0"/>
              <a:t>Step 2: calibrate model</a:t>
            </a:r>
          </a:p>
          <a:p>
            <a:pPr lvl="1"/>
            <a:r>
              <a:rPr lang="en-US" dirty="0" smtClean="0"/>
              <a:t>Model is calibrated to match all available: prevalence, diagnoses, numbers on treatment, and all behavioral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6482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</a:t>
            </a:r>
            <a:r>
              <a:rPr lang="en-US" i="1" dirty="0" smtClean="0"/>
              <a:t>Optima</a:t>
            </a:r>
            <a:r>
              <a:rPr lang="en-US" dirty="0" smtClean="0"/>
              <a:t> used?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Step 3: choose objectives &amp; optimize</a:t>
            </a:r>
          </a:p>
          <a:p>
            <a:pPr lvl="1"/>
            <a:r>
              <a:rPr lang="en-US" dirty="0" smtClean="0"/>
              <a:t>Choose between minimizing incidence, DALYs, deaths, or a combination</a:t>
            </a:r>
          </a:p>
          <a:p>
            <a:pPr lvl="1"/>
            <a:r>
              <a:rPr lang="en-US" dirty="0" smtClean="0"/>
              <a:t>Perform optimization on program allocation</a:t>
            </a:r>
          </a:p>
          <a:p>
            <a:r>
              <a:rPr lang="en-US" dirty="0" smtClean="0"/>
              <a:t>Step 4: reconciliation</a:t>
            </a:r>
          </a:p>
          <a:p>
            <a:pPr lvl="1"/>
            <a:r>
              <a:rPr lang="en-US" dirty="0" smtClean="0"/>
              <a:t>Liaise with key stakeholders about interpretation of optimization results</a:t>
            </a:r>
          </a:p>
          <a:p>
            <a:pPr lvl="1"/>
            <a:r>
              <a:rPr lang="en-US" dirty="0" smtClean="0"/>
              <a:t>Revise assumptions if required</a:t>
            </a:r>
          </a:p>
          <a:p>
            <a:pPr lvl="1"/>
            <a:r>
              <a:rPr lang="en-US" dirty="0" smtClean="0"/>
              <a:t>Interpret findings in broader context (e.g. non-HIV DALYs)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07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Background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How </a:t>
            </a:r>
            <a:r>
              <a:rPr lang="en-US" i="1" dirty="0" smtClean="0">
                <a:solidFill>
                  <a:schemeClr val="bg1">
                    <a:lumMod val="85000"/>
                  </a:schemeClr>
                </a:solidFill>
              </a:rPr>
              <a:t>Optima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works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requirements for 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Optima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Using </a:t>
            </a:r>
            <a:r>
              <a:rPr lang="en-US" i="1" dirty="0" smtClean="0">
                <a:solidFill>
                  <a:schemeClr val="bg1">
                    <a:lumMod val="85000"/>
                  </a:schemeClr>
                </a:solidFill>
              </a:rPr>
              <a:t>Optima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in practice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i="1" dirty="0" smtClean="0">
                <a:solidFill>
                  <a:srgbClr val="FFC000"/>
                </a:solidFill>
              </a:rPr>
              <a:t>Optima</a:t>
            </a:r>
            <a:r>
              <a:rPr lang="en-US" dirty="0" smtClean="0">
                <a:solidFill>
                  <a:srgbClr val="FFC000"/>
                </a:solidFill>
              </a:rPr>
              <a:t> vs. Spectrum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Both Goals and </a:t>
            </a:r>
            <a:r>
              <a:rPr lang="en-US" i="1" dirty="0" smtClean="0"/>
              <a:t>Optima</a:t>
            </a:r>
            <a:r>
              <a:rPr lang="en-US" dirty="0" smtClean="0"/>
              <a:t> aim </a:t>
            </a:r>
            <a:r>
              <a:rPr lang="en-US" dirty="0"/>
              <a:t>to model HIV epidemics and assess the effectiveness of HIV prevention programs in the </a:t>
            </a:r>
            <a:r>
              <a:rPr lang="en-US" dirty="0" smtClean="0"/>
              <a:t>future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Both </a:t>
            </a:r>
            <a:r>
              <a:rPr lang="en-US" dirty="0"/>
              <a:t>models need detailed demographic, epidemiological, behavioral and clinical data </a:t>
            </a: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Goals models epidemics from their </a:t>
            </a:r>
            <a:r>
              <a:rPr lang="en-US" dirty="0" smtClean="0"/>
              <a:t>beginning; </a:t>
            </a:r>
            <a:r>
              <a:rPr lang="en-US" i="1" dirty="0" smtClean="0"/>
              <a:t>Optima</a:t>
            </a:r>
            <a:r>
              <a:rPr lang="en-US" dirty="0" smtClean="0"/>
              <a:t> focuses </a:t>
            </a:r>
            <a:r>
              <a:rPr lang="en-US" dirty="0"/>
              <a:t>on recent years with default starting from the year 2000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1168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smtClean="0"/>
              <a:t>Optima</a:t>
            </a:r>
            <a:r>
              <a:rPr lang="en-US" smtClean="0"/>
              <a:t> &amp; </a:t>
            </a:r>
            <a:r>
              <a:rPr lang="en-US" dirty="0" smtClean="0"/>
              <a:t>Spectrum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mtClean="0"/>
              <a:t>If Spectrum analysis has already been performed, </a:t>
            </a:r>
            <a:r>
              <a:rPr lang="en-US" i="1" smtClean="0"/>
              <a:t>Optima</a:t>
            </a:r>
            <a:r>
              <a:rPr lang="en-US" smtClean="0"/>
              <a:t> </a:t>
            </a:r>
            <a:r>
              <a:rPr lang="en-US" dirty="0" smtClean="0"/>
              <a:t>can be calibrated to </a:t>
            </a:r>
            <a:r>
              <a:rPr lang="en-US" smtClean="0"/>
              <a:t>match its output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mtClean="0"/>
              <a:t>Alternatively, </a:t>
            </a:r>
            <a:r>
              <a:rPr lang="en-US" i="1" smtClean="0"/>
              <a:t>Optima</a:t>
            </a:r>
            <a:r>
              <a:rPr lang="en-US" smtClean="0"/>
              <a:t> can be used to give a “second opinion”, since it is based on a different set of assumptions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951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50792"/>
              </p:ext>
            </p:extLst>
          </p:nvPr>
        </p:nvGraphicFramePr>
        <p:xfrm>
          <a:off x="395536" y="1916832"/>
          <a:ext cx="8352928" cy="409448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4176464"/>
                <a:gridCol w="41764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600" dirty="0" smtClean="0"/>
                        <a:t>Spectrum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smtClean="0"/>
                        <a:t>Optima</a:t>
                      </a:r>
                      <a:endParaRPr lang="en-AU" sz="16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Costing of interventions based on detailed unit cost breakdowns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Infected children and AIDS deaths in children by age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AU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aseline="0" dirty="0" smtClean="0"/>
                        <a:t>Diagnoses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aseline="0" dirty="0" smtClean="0"/>
                        <a:t>Number on 1</a:t>
                      </a:r>
                      <a:r>
                        <a:rPr lang="en-AU" sz="1600" baseline="30000" dirty="0" smtClean="0"/>
                        <a:t>st</a:t>
                      </a:r>
                      <a:r>
                        <a:rPr lang="en-AU" sz="1600" baseline="0" dirty="0" smtClean="0"/>
                        <a:t> and 2</a:t>
                      </a:r>
                      <a:r>
                        <a:rPr lang="en-AU" sz="1600" baseline="30000" dirty="0" smtClean="0"/>
                        <a:t>nd</a:t>
                      </a:r>
                      <a:r>
                        <a:rPr lang="en-AU" sz="1600" baseline="0" dirty="0" smtClean="0"/>
                        <a:t> line ART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aseline="0" dirty="0" smtClean="0"/>
                        <a:t>Number with treatment failure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aseline="0" dirty="0" smtClean="0"/>
                        <a:t>Infections in children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aseline="0" dirty="0" smtClean="0"/>
                        <a:t>Lifetime gains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="1" baseline="0" dirty="0" smtClean="0">
                          <a:solidFill>
                            <a:srgbClr val="FF0000"/>
                          </a:solidFill>
                        </a:rPr>
                        <a:t>Evaluation of past programs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="1" baseline="0" dirty="0" smtClean="0">
                          <a:solidFill>
                            <a:srgbClr val="FF0000"/>
                          </a:solidFill>
                        </a:rPr>
                        <a:t>Return on investment</a:t>
                      </a:r>
                      <a:endParaRPr lang="en-AU" sz="1600" baseline="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600" b="1" baseline="0" dirty="0" smtClean="0">
                          <a:solidFill>
                            <a:srgbClr val="FF0000"/>
                          </a:solidFill>
                        </a:rPr>
                        <a:t>Optimal resource allocations across interventions for defined objective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itchFamily="34" charset="0"/>
                        <a:buNone/>
                      </a:pPr>
                      <a:r>
                        <a:rPr lang="en-AU" sz="16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Both Models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buFont typeface="Arial" pitchFamily="34" charset="0"/>
                        <a:buNone/>
                      </a:pPr>
                      <a:endParaRPr lang="en-A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  <a:defRPr/>
                      </a:pPr>
                      <a:r>
                        <a:rPr lang="en-US" sz="1600" dirty="0" smtClean="0"/>
                        <a:t>Similar demographic, epidemiological and clinical outputs for the adult population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  <a:defRPr/>
                      </a:pPr>
                      <a:r>
                        <a:rPr lang="en-US" sz="1600" dirty="0" smtClean="0"/>
                        <a:t>Infections and AIDS deaths averted for interventions.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  <a:defRPr/>
                      </a:pPr>
                      <a:r>
                        <a:rPr lang="en-US" sz="1600" dirty="0" smtClean="0"/>
                        <a:t>Both</a:t>
                      </a:r>
                      <a:r>
                        <a:rPr lang="en-US" sz="1600" baseline="0" dirty="0" smtClean="0"/>
                        <a:t> produce CD4 count distributions so QALYs gained and DALYs averted can be calculated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  <a:defRPr/>
                      </a:pPr>
                      <a:r>
                        <a:rPr lang="en-US" sz="1600" baseline="0" dirty="0" smtClean="0"/>
                        <a:t>Both produce uncertainty estimates in all results</a:t>
                      </a:r>
                      <a:endParaRPr lang="en-US" sz="16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A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 smtClean="0"/>
              <a:t>Optima</a:t>
            </a:r>
            <a:r>
              <a:rPr lang="en-US" dirty="0" smtClean="0"/>
              <a:t> vs. Spectrum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95387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smtClean="0"/>
              <a:t>Optima</a:t>
            </a:r>
            <a:r>
              <a:rPr lang="en-US" dirty="0" smtClean="0"/>
              <a:t> is a powerful tool for mathematical resource optimization</a:t>
            </a:r>
          </a:p>
          <a:p>
            <a:r>
              <a:rPr lang="en-US" dirty="0" smtClean="0"/>
              <a:t>Critical requirement is for prevalence data, but the more data, the more accurate </a:t>
            </a:r>
            <a:r>
              <a:rPr lang="en-US" smtClean="0"/>
              <a:t>the </a:t>
            </a:r>
            <a:r>
              <a:rPr lang="en-US" smtClean="0"/>
              <a:t>projections </a:t>
            </a:r>
            <a:r>
              <a:rPr lang="en-US" dirty="0" smtClean="0"/>
              <a:t>will be</a:t>
            </a:r>
          </a:p>
          <a:p>
            <a:r>
              <a:rPr lang="en-US" dirty="0" smtClean="0"/>
              <a:t>Program spending &amp; matching behavioral data required for most reliable cost-outcome relationships and thus optimizations</a:t>
            </a:r>
          </a:p>
          <a:p>
            <a:r>
              <a:rPr lang="en-US" i="1" dirty="0" smtClean="0"/>
              <a:t>Optima</a:t>
            </a:r>
            <a:r>
              <a:rPr lang="en-US" dirty="0" smtClean="0"/>
              <a:t> can be used instead of Spectrum or in complement to it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09718725"/>
      </p:ext>
    </p:extLst>
  </p:cSld>
  <p:clrMapOvr>
    <a:masterClrMapping/>
  </p:clrMapOvr>
</p:sld>
</file>

<file path=ppt/theme/theme1.xml><?xml version="1.0" encoding="utf-8"?>
<a:theme xmlns:a="http://schemas.openxmlformats.org/drawingml/2006/main" name="kazakh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kazakh-theme</Template>
  <TotalTime>3086</TotalTime>
  <Words>1839</Words>
  <Application>Microsoft Office PowerPoint</Application>
  <PresentationFormat>On-screen Show (4:3)</PresentationFormat>
  <Paragraphs>290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kazakh-theme</vt:lpstr>
      <vt:lpstr>Using Optima to optimize resource allocations</vt:lpstr>
      <vt:lpstr>Outline</vt:lpstr>
      <vt:lpstr>Outline</vt:lpstr>
      <vt:lpstr>Public health evaluation process</vt:lpstr>
      <vt:lpstr>Public health evaluation process</vt:lpstr>
      <vt:lpstr>Difficult time for global response to HIV</vt:lpstr>
      <vt:lpstr>HIV responses need to be done smarter</vt:lpstr>
      <vt:lpstr>What should we spend money on?</vt:lpstr>
      <vt:lpstr>What should we spend money on?</vt:lpstr>
      <vt:lpstr>Smart resource allocation</vt:lpstr>
      <vt:lpstr>What is the overall objective?</vt:lpstr>
      <vt:lpstr>Three separate objectives considered</vt:lpstr>
      <vt:lpstr>Outline</vt:lpstr>
      <vt:lpstr>Mathematical optimization</vt:lpstr>
      <vt:lpstr>Mathematical objective function</vt:lpstr>
      <vt:lpstr>Mathematical objective function</vt:lpstr>
      <vt:lpstr>Mathematical epidemiological models</vt:lpstr>
      <vt:lpstr>Mathematical epidemiological models</vt:lpstr>
      <vt:lpstr>Optima: model structure</vt:lpstr>
      <vt:lpstr>PowerPoint Presentation</vt:lpstr>
      <vt:lpstr>PowerPoint Presentation</vt:lpstr>
      <vt:lpstr>PowerPoint Presentation</vt:lpstr>
      <vt:lpstr>Assumed cost-outcome curves (Armenia)</vt:lpstr>
      <vt:lpstr>Assumed cost-outcome curves (Armenia)</vt:lpstr>
      <vt:lpstr>Outline</vt:lpstr>
      <vt:lpstr>Data requirements</vt:lpstr>
      <vt:lpstr>Example data entry</vt:lpstr>
      <vt:lpstr>Parameters of the model</vt:lpstr>
      <vt:lpstr>Demographic/prevalence data</vt:lpstr>
      <vt:lpstr>Testing &amp; treatment</vt:lpstr>
      <vt:lpstr>Behavior</vt:lpstr>
      <vt:lpstr>Drug use</vt:lpstr>
      <vt:lpstr>Partnerships &amp; transitions</vt:lpstr>
      <vt:lpstr>Economic data</vt:lpstr>
      <vt:lpstr>Other data</vt:lpstr>
      <vt:lpstr>Outline</vt:lpstr>
      <vt:lpstr>How is Optima used?</vt:lpstr>
      <vt:lpstr>How is Optima used?</vt:lpstr>
      <vt:lpstr>Outline</vt:lpstr>
      <vt:lpstr>Optima vs. Spectrum</vt:lpstr>
      <vt:lpstr>Optima &amp; Spectrum</vt:lpstr>
      <vt:lpstr>PowerPoint Presentation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 Indonesia</dc:title>
  <dc:creator>Pen Reyes</dc:creator>
  <cp:lastModifiedBy>cliffk</cp:lastModifiedBy>
  <cp:revision>181</cp:revision>
  <dcterms:created xsi:type="dcterms:W3CDTF">2012-10-10T23:00:41Z</dcterms:created>
  <dcterms:modified xsi:type="dcterms:W3CDTF">2014-05-29T09:18:37Z</dcterms:modified>
</cp:coreProperties>
</file>