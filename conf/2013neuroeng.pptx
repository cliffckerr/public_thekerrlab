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301" r:id="rId3"/>
    <p:sldId id="297" r:id="rId4"/>
    <p:sldId id="294" r:id="rId5"/>
    <p:sldId id="312" r:id="rId6"/>
    <p:sldId id="298" r:id="rId7"/>
    <p:sldId id="295" r:id="rId8"/>
    <p:sldId id="313" r:id="rId9"/>
    <p:sldId id="296" r:id="rId10"/>
    <p:sldId id="300" r:id="rId11"/>
    <p:sldId id="302" r:id="rId12"/>
    <p:sldId id="306" r:id="rId13"/>
    <p:sldId id="308" r:id="rId14"/>
    <p:sldId id="310" r:id="rId15"/>
    <p:sldId id="311" r:id="rId16"/>
    <p:sldId id="29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933C"/>
    <a:srgbClr val="80C535"/>
    <a:srgbClr val="FF6600"/>
    <a:srgbClr val="396497"/>
    <a:srgbClr val="3F6EA7"/>
    <a:srgbClr val="4A7EBB"/>
    <a:srgbClr val="FFCC00"/>
    <a:srgbClr val="CC4900"/>
    <a:srgbClr val="F5F3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3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01D4E-BAC5-43AD-B916-DDA19C91931B}" type="datetimeFigureOut">
              <a:rPr lang="en-US" smtClean="0"/>
              <a:pPr/>
              <a:t>1/30/2013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06F6A-5A33-465E-BED7-AFD61A680E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484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dirty="0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3E8888-A394-4F85-8584-1860E4AD0DF8}" type="slidenum">
              <a:rPr lang="en-AU" smtClean="0"/>
              <a:pPr/>
              <a:t>1</a:t>
            </a:fld>
            <a:endParaRPr lang="en-AU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AU" smtClean="0"/>
              <a:t>.</a:t>
            </a: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D34252-7A9E-4FEA-8B1A-26E73D29D0AC}" type="slidenum">
              <a:rPr lang="en-AU" smtClean="0"/>
              <a:pPr/>
              <a:t>16</a:t>
            </a:fld>
            <a:endParaRPr lang="en-A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C5FB61F-078B-4B80-BDC7-AAB6567E54E4}" type="datetime1">
              <a:rPr lang="en-US" smtClean="0"/>
              <a:pPr/>
              <a:t>1/30/2013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3018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31640" y="5805264"/>
            <a:ext cx="2133600" cy="365125"/>
          </a:xfrm>
          <a:prstGeom prst="rect">
            <a:avLst/>
          </a:prstGeom>
        </p:spPr>
        <p:txBody>
          <a:bodyPr/>
          <a:lstStyle/>
          <a:p>
            <a:fld id="{15FA29D2-F567-403A-83A9-48E25291DDD2}" type="datetime1">
              <a:rPr lang="en-US" smtClean="0"/>
              <a:pPr/>
              <a:t>1/30/2013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3980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DB32EB7-0147-4A47-B50B-3B2DC8CAD91A}" type="datetime1">
              <a:rPr lang="en-US" smtClean="0"/>
              <a:pPr/>
              <a:t>1/30/2013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489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B18D2C-C65E-4B20-B9D4-4DEC2400BE0C}" type="datetime1">
              <a:rPr lang="en-US" smtClean="0"/>
              <a:pPr/>
              <a:t>1/30/2013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78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5809D12-0F04-49EE-B935-6D3A650F5A8A}" type="datetime1">
              <a:rPr lang="en-US" smtClean="0"/>
              <a:pPr/>
              <a:t>1/30/2013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899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03472AF-878E-43D0-9EE3-D9D12E9187D1}" type="datetime1">
              <a:rPr lang="en-US" smtClean="0"/>
              <a:pPr/>
              <a:t>1/30/2013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549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D2952A2-753B-4C84-B882-8D06D9DE4981}" type="datetime1">
              <a:rPr lang="en-US" smtClean="0"/>
              <a:pPr/>
              <a:t>1/30/2013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72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E68096C-26B6-47BE-B4C7-0A617B4381A9}" type="datetime1">
              <a:rPr lang="en-US" smtClean="0"/>
              <a:pPr/>
              <a:t>1/30/2013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647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E571F22-D4F4-415B-878B-B082C1028164}" type="datetime1">
              <a:rPr lang="en-US" smtClean="0"/>
              <a:pPr/>
              <a:t>1/30/2013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48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110EAF6-65D9-42B0-B6E5-CD90592DB703}" type="datetime1">
              <a:rPr lang="en-US" smtClean="0"/>
              <a:pPr/>
              <a:t>1/30/2013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586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0069175-FE15-4071-B105-767120D28141}" type="datetime1">
              <a:rPr lang="en-US" smtClean="0"/>
              <a:pPr/>
              <a:t>1/30/2013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436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40000"/>
                <a:lumOff val="60000"/>
                <a:alpha val="41000"/>
              </a:schemeClr>
            </a:gs>
            <a:gs pos="100000">
              <a:srgbClr val="F5F3AF">
                <a:alpha val="58000"/>
                <a:lumMod val="97000"/>
                <a:lumOff val="3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729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67544" y="980728"/>
            <a:ext cx="8208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0" y="6526800"/>
            <a:ext cx="9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C01C431-FDFF-4A2C-961A-089C0B79C46D}" type="slidenum">
              <a:rPr lang="en-US" sz="1200" smtClean="0">
                <a:solidFill>
                  <a:schemeClr val="bg1">
                    <a:lumMod val="65000"/>
                  </a:schemeClr>
                </a:solidFill>
                <a:latin typeface="+mj-lt"/>
                <a:cs typeface="Calibri" pitchFamily="34" charset="0"/>
              </a:rPr>
              <a:pPr/>
              <a:t>‹#›</a:t>
            </a:fld>
            <a:r>
              <a:rPr lang="en-US" sz="1200" smtClean="0">
                <a:solidFill>
                  <a:schemeClr val="bg1">
                    <a:lumMod val="65000"/>
                  </a:schemeClr>
                </a:solidFill>
                <a:latin typeface="+mj-lt"/>
                <a:cs typeface="Calibri" pitchFamily="34" charset="0"/>
              </a:rPr>
              <a:t>/15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+mj-lt"/>
              <a:cs typeface="Calibri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424938" y="6525344"/>
            <a:ext cx="43108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</a:rPr>
              <a:t>Cliff Kerr </a:t>
            </a:r>
            <a:r>
              <a:rPr lang="en-US" sz="1200" smtClean="0">
                <a:solidFill>
                  <a:schemeClr val="bg1">
                    <a:lumMod val="65000"/>
                  </a:schemeClr>
                </a:solidFill>
              </a:rPr>
              <a:t>| Multiscale</a:t>
            </a:r>
            <a:r>
              <a:rPr lang="en-US" sz="1200" baseline="0" smtClean="0">
                <a:solidFill>
                  <a:schemeClr val="bg1">
                    <a:lumMod val="65000"/>
                  </a:schemeClr>
                </a:solidFill>
              </a:rPr>
              <a:t> model of Parkinson’s disease</a:t>
            </a:r>
            <a:r>
              <a:rPr lang="en-US" sz="1200" smtClean="0">
                <a:solidFill>
                  <a:schemeClr val="bg1">
                    <a:lumMod val="65000"/>
                  </a:schemeClr>
                </a:solidFill>
              </a:rPr>
              <a:t> | Jan. 30</a:t>
            </a:r>
            <a:r>
              <a:rPr lang="en-US" sz="1200" baseline="30000" smtClean="0">
                <a:solidFill>
                  <a:schemeClr val="bg1">
                    <a:lumMod val="65000"/>
                  </a:schemeClr>
                </a:solidFill>
              </a:rPr>
              <a:t>th</a:t>
            </a:r>
            <a:r>
              <a:rPr lang="en-US" sz="1200" smtClean="0">
                <a:solidFill>
                  <a:schemeClr val="bg1">
                    <a:lumMod val="65000"/>
                  </a:schemeClr>
                </a:solidFill>
              </a:rPr>
              <a:t>, 2013</a:t>
            </a:r>
            <a:endParaRPr 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203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39000">
              <a:schemeClr val="accent1">
                <a:tint val="44500"/>
                <a:satMod val="160000"/>
              </a:schemeClr>
            </a:gs>
            <a:gs pos="100000">
              <a:schemeClr val="tx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71472" y="131256"/>
            <a:ext cx="8215370" cy="969592"/>
          </a:xfrm>
        </p:spPr>
        <p:txBody>
          <a:bodyPr>
            <a:noAutofit/>
          </a:bodyPr>
          <a:lstStyle/>
          <a:p>
            <a:r>
              <a:rPr lang="en-US" sz="3600" b="1" smtClean="0">
                <a:solidFill>
                  <a:prstClr val="black"/>
                </a:solidFill>
                <a:latin typeface="Garamond" pitchFamily="18" charset="0"/>
              </a:rPr>
              <a:t>How Parkinson’s disease affects cortical information flow: A multiscale model</a:t>
            </a:r>
            <a:endParaRPr lang="en-AU" sz="3800" b="1" dirty="0" smtClean="0">
              <a:latin typeface="Garamond MT" pitchFamily="18" charset="0"/>
            </a:endParaRP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55576" y="5573120"/>
            <a:ext cx="6400800" cy="72746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AU" sz="2800" b="1" smtClean="0">
                <a:solidFill>
                  <a:schemeClr val="bg1"/>
                </a:solidFill>
                <a:latin typeface="Garamond MT" pitchFamily="18" charset="0"/>
              </a:rPr>
              <a:t>Cliff </a:t>
            </a:r>
            <a:r>
              <a:rPr lang="en-AU" sz="2800" b="1" dirty="0" smtClean="0">
                <a:solidFill>
                  <a:schemeClr val="bg1"/>
                </a:solidFill>
                <a:latin typeface="Garamond MT" pitchFamily="18" charset="0"/>
              </a:rPr>
              <a:t>Kerr</a:t>
            </a:r>
            <a:endParaRPr lang="en-AU" sz="2000" b="1" dirty="0" smtClean="0">
              <a:solidFill>
                <a:schemeClr val="bg1"/>
              </a:solidFill>
              <a:latin typeface="Garamond MT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715008" y="6072206"/>
            <a:ext cx="3474267" cy="78581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aramond MT" pitchFamily="18" charset="0"/>
                <a:cs typeface="+mn-cs"/>
              </a:rPr>
              <a:t>Complex Systems</a:t>
            </a:r>
            <a:r>
              <a:rPr kumimoji="0" lang="en-AU" b="1" i="0" u="none" strike="noStrike" kern="0" cap="none" spc="0" normalizeH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aramond MT" pitchFamily="18" charset="0"/>
                <a:cs typeface="+mn-cs"/>
              </a:rPr>
              <a:t> Group</a:t>
            </a:r>
            <a:endParaRPr kumimoji="0" lang="en-AU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aramond MT" pitchFamily="18" charset="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aramond MT" pitchFamily="18" charset="0"/>
                <a:cs typeface="+mn-cs"/>
              </a:rPr>
              <a:t>University of Sydney</a:t>
            </a:r>
            <a:endParaRPr kumimoji="0" lang="en-AU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aramond MT" pitchFamily="18" charset="0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6072206"/>
            <a:ext cx="3474267" cy="78581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AU" b="1" kern="0">
                <a:solidFill>
                  <a:schemeClr val="bg1"/>
                </a:solidFill>
                <a:latin typeface="Garamond MT" pitchFamily="18" charset="0"/>
              </a:rPr>
              <a:t>Neurosimulation Laboratory</a:t>
            </a:r>
          </a:p>
          <a:p>
            <a:pPr lvl="0"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AU" b="1" kern="0">
                <a:solidFill>
                  <a:schemeClr val="bg1"/>
                </a:solidFill>
                <a:latin typeface="Garamond MT" pitchFamily="18" charset="0"/>
              </a:rPr>
              <a:t>State University of New York</a:t>
            </a:r>
            <a:endParaRPr lang="en-AU" b="1" kern="0" dirty="0">
              <a:solidFill>
                <a:schemeClr val="bg1"/>
              </a:solidFill>
              <a:latin typeface="Garamond MT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116913"/>
            <a:ext cx="5816237" cy="468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830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Parkinson’s disease</a:t>
            </a:r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7108" y="1272299"/>
            <a:ext cx="4171316" cy="4388949"/>
          </a:xfrm>
        </p:spPr>
      </p:pic>
      <p:sp>
        <p:nvSpPr>
          <p:cNvPr id="7" name="Rectangle 6"/>
          <p:cNvSpPr/>
          <p:nvPr/>
        </p:nvSpPr>
        <p:spPr>
          <a:xfrm>
            <a:off x="251520" y="1340768"/>
            <a:ext cx="2952328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/>
              <a:t>Tremor (typically 3-6 </a:t>
            </a:r>
            <a:r>
              <a:rPr lang="en-AU" sz="2800"/>
              <a:t>Hz</a:t>
            </a:r>
            <a:r>
              <a:rPr lang="en-AU" sz="2800" smtClean="0"/>
              <a:t>)</a:t>
            </a:r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/>
              <a:t>Bradykinesia (slowness of movement)</a:t>
            </a:r>
            <a:endParaRPr lang="en-AU" sz="2800" smtClean="0"/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/>
              <a:t>Bradyphrenia (slowness of thought)</a:t>
            </a:r>
          </a:p>
        </p:txBody>
      </p:sp>
    </p:spTree>
    <p:extLst>
      <p:ext uri="{BB962C8B-B14F-4D97-AF65-F5344CB8AC3E}">
        <p14:creationId xmlns:p14="http://schemas.microsoft.com/office/powerpoint/2010/main" val="70740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419872" y="1340768"/>
            <a:ext cx="5184576" cy="51125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Spiking network model</a:t>
            </a:r>
            <a:endParaRPr lang="en-AU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3028" y="1600200"/>
            <a:ext cx="4438265" cy="4525963"/>
          </a:xfrm>
        </p:spPr>
      </p:pic>
      <p:sp>
        <p:nvSpPr>
          <p:cNvPr id="3" name="Rectangle 2"/>
          <p:cNvSpPr/>
          <p:nvPr/>
        </p:nvSpPr>
        <p:spPr>
          <a:xfrm>
            <a:off x="251520" y="1340768"/>
            <a:ext cx="2952328" cy="4262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/>
              <a:t>Event-driven </a:t>
            </a:r>
            <a:r>
              <a:rPr lang="en-AU" sz="2800"/>
              <a:t>integrate-and-fire </a:t>
            </a:r>
            <a:r>
              <a:rPr lang="en-AU" sz="2800" smtClean="0"/>
              <a:t>model</a:t>
            </a:r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/>
              <a:t>6-layered cortex, 2 thalamic </a:t>
            </a:r>
            <a:r>
              <a:rPr lang="en-AU" sz="2800" smtClean="0"/>
              <a:t>nuclei</a:t>
            </a:r>
            <a:endParaRPr lang="en-AU" sz="2800"/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/>
              <a:t>15 cell </a:t>
            </a:r>
            <a:r>
              <a:rPr lang="en-AU" sz="2800" smtClean="0"/>
              <a:t>types </a:t>
            </a:r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>
                <a:sym typeface="Symbol"/>
              </a:rPr>
              <a:t></a:t>
            </a:r>
            <a:r>
              <a:rPr lang="en-AU" sz="2800" smtClean="0"/>
              <a:t>5000 neurons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19191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5544616" cy="3672408"/>
          </a:xfrm>
        </p:spPr>
        <p:txBody>
          <a:bodyPr>
            <a:noAutofit/>
          </a:bodyPr>
          <a:lstStyle/>
          <a:p>
            <a:pPr>
              <a:spcBef>
                <a:spcPts val="1000"/>
              </a:spcBef>
            </a:pPr>
            <a:r>
              <a:rPr lang="en-AU" sz="2800"/>
              <a:t>A</a:t>
            </a:r>
            <a:r>
              <a:rPr lang="en-AU" sz="2800" smtClean="0"/>
              <a:t>natomy &amp; physiology based </a:t>
            </a:r>
            <a:r>
              <a:rPr lang="en-AU" sz="2800" dirty="0" smtClean="0"/>
              <a:t>on experimental data</a:t>
            </a:r>
          </a:p>
          <a:p>
            <a:pPr>
              <a:spcBef>
                <a:spcPts val="1000"/>
              </a:spcBef>
            </a:pPr>
            <a:r>
              <a:rPr lang="en-AU" sz="2800" dirty="0" smtClean="0"/>
              <a:t>Adaptable to different brain regions based on </a:t>
            </a:r>
            <a:r>
              <a:rPr lang="en-AU" sz="2800" smtClean="0"/>
              <a:t>cell populations/ connectivities</a:t>
            </a:r>
            <a:endParaRPr lang="en-AU" sz="2800" dirty="0" smtClean="0"/>
          </a:p>
          <a:p>
            <a:pPr>
              <a:spcBef>
                <a:spcPts val="1000"/>
              </a:spcBef>
            </a:pPr>
            <a:r>
              <a:rPr lang="en-AU" sz="2800" dirty="0" smtClean="0"/>
              <a:t>Model generates </a:t>
            </a:r>
            <a:r>
              <a:rPr lang="en-AU" sz="2800" smtClean="0"/>
              <a:t>realistic neuronal dynamics; demonstrated control of </a:t>
            </a:r>
            <a:r>
              <a:rPr lang="en-AU" sz="2800" dirty="0" smtClean="0"/>
              <a:t>virtual arm</a:t>
            </a:r>
            <a:endParaRPr lang="en-AU" dirty="0"/>
          </a:p>
        </p:txBody>
      </p:sp>
      <p:grpSp>
        <p:nvGrpSpPr>
          <p:cNvPr id="11" name="Group 10"/>
          <p:cNvGrpSpPr/>
          <p:nvPr/>
        </p:nvGrpSpPr>
        <p:grpSpPr>
          <a:xfrm>
            <a:off x="395536" y="5301208"/>
            <a:ext cx="4439357" cy="1008112"/>
            <a:chOff x="249033" y="5661248"/>
            <a:chExt cx="4439357" cy="10081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249033" y="5954677"/>
                  <a:ext cx="4439357" cy="7146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AU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AU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AU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AU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d>
                          <m:dPr>
                            <m:ctrlPr>
                              <a:rPr lang="en-AU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AU" i="1">
                                    <a:latin typeface="Cambria Math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AU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AU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A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AU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A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i="1">
                                <a:latin typeface="Cambria Math"/>
                              </a:rPr>
                              <m:t>)/</m:t>
                            </m:r>
                            <m:sSub>
                              <m:sSubPr>
                                <m:ctrlPr>
                                  <a:rPr lang="en-A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033" y="5954677"/>
                  <a:ext cx="4439357" cy="714683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r="-1374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/>
            <p:cNvSpPr txBox="1"/>
            <p:nvPr/>
          </p:nvSpPr>
          <p:spPr>
            <a:xfrm>
              <a:off x="347408" y="5661248"/>
              <a:ext cx="17763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b="1" dirty="0" smtClean="0"/>
                <a:t>Synaptic input:</a:t>
              </a:r>
              <a:endParaRPr lang="en-AU" sz="2000" b="1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436096" y="5373216"/>
            <a:ext cx="2827633" cy="864096"/>
            <a:chOff x="6084168" y="4797152"/>
            <a:chExt cx="2827633" cy="8640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6084168" y="5236003"/>
                  <a:ext cx="2827633" cy="4252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𝑓</m:t>
                            </m:r>
                          </m:sup>
                        </m:sSubSup>
                        <m:r>
                          <a:rPr lang="en-US" i="1">
                            <a:latin typeface="Cambria Math"/>
                          </a:rPr>
                          <m:t>=</m:t>
                        </m:r>
                        <m:sSubSup>
                          <m:sSub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</m:sup>
                        </m:sSubSup>
                        <m:r>
                          <a:rPr lang="en-US" i="1">
                            <a:latin typeface="Cambria Math"/>
                          </a:rPr>
                          <m:t> +</m:t>
                        </m:r>
                        <m:r>
                          <a:rPr lang="en-US" i="1">
                            <a:latin typeface="Cambria Math"/>
                          </a:rPr>
                          <m:t>𝛼</m:t>
                        </m:r>
                        <m:r>
                          <a:rPr lang="en-US" i="1">
                            <a:latin typeface="Cambria Math"/>
                          </a:rPr>
                          <m:t>𝑠</m:t>
                        </m:r>
                        <m:d>
                          <m:dPr>
                            <m:ctrlPr>
                              <a:rPr lang="en-AU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/>
                              </a:rPr>
                              <m:t>Δ</m:t>
                            </m:r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−|</m:t>
                            </m:r>
                            <m:r>
                              <a:rPr lang="en-US" i="1">
                                <a:latin typeface="Cambria Math"/>
                              </a:rPr>
                              <m:t>𝛥</m:t>
                            </m:r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i="1">
                                <a:latin typeface="Cambria Math"/>
                              </a:rPr>
                              <m:t>|/</m:t>
                            </m:r>
                            <m:sSub>
                              <m:sSubPr>
                                <m:ctrlPr>
                                  <a:rPr lang="en-A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𝐿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4168" y="5236003"/>
                  <a:ext cx="2827633" cy="42524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r="-3879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/>
            <p:cNvSpPr txBox="1"/>
            <p:nvPr/>
          </p:nvSpPr>
          <p:spPr>
            <a:xfrm>
              <a:off x="6156176" y="4797152"/>
              <a:ext cx="21692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b="1" dirty="0" smtClean="0"/>
                <a:t>Synaptic plasticity:</a:t>
              </a:r>
              <a:endParaRPr lang="en-AU" sz="20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Spiking network model</a:t>
            </a:r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883" y="1700808"/>
            <a:ext cx="3284605" cy="303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Spiking network model</a:t>
            </a:r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1691680" y="2348880"/>
            <a:ext cx="5760640" cy="41044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378" y="2427684"/>
            <a:ext cx="5453141" cy="3953644"/>
          </a:xfr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179512" y="1124744"/>
            <a:ext cx="8424936" cy="3672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AU" sz="2800" smtClean="0"/>
              <a:t>Connectivity matrix based on rat, cat, and macaque data</a:t>
            </a:r>
          </a:p>
          <a:p>
            <a:pPr>
              <a:spcBef>
                <a:spcPts val="1000"/>
              </a:spcBef>
            </a:pPr>
            <a:r>
              <a:rPr lang="en-AU" sz="2800" smtClean="0"/>
              <a:t>Strong intralaminar and thalamocortical connectivity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9127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15816" y="1268760"/>
            <a:ext cx="6048672" cy="51845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Neural field model</a:t>
            </a:r>
            <a:endParaRPr lang="en-AU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963" y="1343088"/>
            <a:ext cx="5504379" cy="4996961"/>
          </a:xfrm>
        </p:spPr>
      </p:pic>
      <p:sp>
        <p:nvSpPr>
          <p:cNvPr id="6" name="Rectangle 5"/>
          <p:cNvSpPr/>
          <p:nvPr/>
        </p:nvSpPr>
        <p:spPr>
          <a:xfrm>
            <a:off x="251520" y="1340768"/>
            <a:ext cx="2592288" cy="5124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/>
              <a:t>Continuous firing rate model</a:t>
            </a:r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/>
              <a:t>9 neuronal populations</a:t>
            </a:r>
            <a:endParaRPr lang="en-AU" sz="2800"/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/>
              <a:t>26 connections</a:t>
            </a:r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/>
              <a:t>Field model activity drives network model</a:t>
            </a:r>
          </a:p>
        </p:txBody>
      </p:sp>
    </p:spTree>
    <p:extLst>
      <p:ext uri="{BB962C8B-B14F-4D97-AF65-F5344CB8AC3E}">
        <p14:creationId xmlns:p14="http://schemas.microsoft.com/office/powerpoint/2010/main" val="415549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340768"/>
                <a:ext cx="8496944" cy="5400600"/>
              </a:xfrm>
            </p:spPr>
            <p:txBody>
              <a:bodyPr>
                <a:normAutofit/>
              </a:bodyPr>
              <a:lstStyle/>
              <a:p>
                <a:r>
                  <a:rPr lang="en-AU" sz="2800" dirty="0" smtClean="0"/>
                  <a:t>Neurons averaged out </a:t>
                </a:r>
                <a:r>
                  <a:rPr lang="en-AU" sz="2800" smtClean="0"/>
                  <a:t>over </a:t>
                </a:r>
                <a:r>
                  <a:rPr lang="en-AU" sz="2800" smtClean="0">
                    <a:sym typeface="Symbol"/>
                  </a:rPr>
                  <a:t></a:t>
                </a:r>
                <a:r>
                  <a:rPr lang="en-AU" sz="2800" smtClean="0"/>
                  <a:t>1 </a:t>
                </a:r>
                <a:r>
                  <a:rPr lang="en-AU" sz="2800" dirty="0" smtClean="0"/>
                  <a:t>mm, allowing the whole brain to be </a:t>
                </a:r>
                <a:r>
                  <a:rPr lang="en-AU" sz="2800" smtClean="0"/>
                  <a:t>represented by a grid of </a:t>
                </a:r>
                <a:r>
                  <a:rPr lang="en-AU" sz="2800" dirty="0" smtClean="0"/>
                  <a:t>nodes</a:t>
                </a:r>
              </a:p>
              <a:p>
                <a:r>
                  <a:rPr lang="en-AU" sz="2800" dirty="0" smtClean="0"/>
                  <a:t>Includes major cortical and thalamic </a:t>
                </a:r>
                <a:r>
                  <a:rPr lang="en-AU" sz="2800" smtClean="0"/>
                  <a:t>cell populations, </a:t>
                </a:r>
                <a:r>
                  <a:rPr lang="en-AU" sz="2800" dirty="0" smtClean="0"/>
                  <a:t>plus </a:t>
                </a:r>
                <a:r>
                  <a:rPr lang="en-AU" sz="2800" smtClean="0"/>
                  <a:t>basal ganglia</a:t>
                </a:r>
              </a:p>
              <a:p>
                <a:r>
                  <a:rPr lang="en-AU" sz="2800" smtClean="0"/>
                  <a:t>Demonstrated ability to replicate </a:t>
                </a:r>
                <a:br>
                  <a:rPr lang="en-AU" sz="2800" smtClean="0"/>
                </a:br>
                <a:r>
                  <a:rPr lang="en-AU" sz="2800" smtClean="0"/>
                  <a:t>physiological firing rates and spectra:</a:t>
                </a:r>
                <a:endParaRPr lang="en-AU" sz="2800" dirty="0" smtClean="0"/>
              </a:p>
              <a:p>
                <a:pPr marL="0" indent="0">
                  <a:buNone/>
                </a:pPr>
                <a:endParaRPr lang="en-AU" sz="2000" b="1" smtClean="0"/>
              </a:p>
              <a:p>
                <a:pPr marL="0" indent="0">
                  <a:buNone/>
                </a:pPr>
                <a:r>
                  <a:rPr lang="en-AU" sz="2000" b="1" smtClean="0"/>
                  <a:t>Population </a:t>
                </a:r>
                <a:r>
                  <a:rPr lang="en-AU" sz="2000" b="1" dirty="0" smtClean="0"/>
                  <a:t>firing response: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     </m:t>
                    </m:r>
                    <m:r>
                      <a:rPr lang="en-AU" sz="2000" b="0" i="1" smtClean="0">
                        <a:latin typeface="Cambria Math"/>
                      </a:rPr>
                      <m:t>𝑄</m:t>
                    </m:r>
                    <m:r>
                      <a:rPr lang="en-AU" sz="2000" b="0" i="1" smtClean="0">
                        <a:latin typeface="Cambria Math"/>
                      </a:rPr>
                      <m:t>(</m:t>
                    </m:r>
                    <m:r>
                      <a:rPr lang="en-AU" sz="2000" b="0" i="1" smtClean="0">
                        <a:latin typeface="Cambria Math"/>
                      </a:rPr>
                      <m:t>𝑡</m:t>
                    </m:r>
                    <m:r>
                      <a:rPr lang="en-AU" sz="2000" b="0" i="1" smtClean="0">
                        <a:latin typeface="Cambria Math"/>
                      </a:rPr>
                      <m:t>)=</m:t>
                    </m:r>
                    <m:f>
                      <m:fPr>
                        <m:ctrlPr>
                          <a:rPr lang="en-AU" sz="2000" b="0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000" b="0" i="1" smtClean="0">
                                <a:latin typeface="Cambria Math"/>
                              </a:rPr>
                              <m:t>𝑄</m:t>
                            </m:r>
                          </m:e>
                          <m:sup>
                            <m:r>
                              <a:rPr lang="en-AU" sz="2000" b="0" i="1" smtClean="0">
                                <a:latin typeface="Cambria Math"/>
                              </a:rPr>
                              <m:t>𝑚𝑎𝑥</m:t>
                            </m:r>
                          </m:sup>
                        </m:sSup>
                      </m:num>
                      <m:den>
                        <m:r>
                          <a:rPr lang="en-AU" sz="2000" b="0" i="1" smtClean="0">
                            <a:latin typeface="Cambria Math"/>
                          </a:rPr>
                          <m:t>1−</m:t>
                        </m:r>
                        <m:sSup>
                          <m:sSupPr>
                            <m:ctrlPr>
                              <a:rPr lang="en-AU" sz="2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000" b="0" i="1" smtClean="0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AU" sz="2000" b="0" i="1" smtClean="0">
                                <a:latin typeface="Cambria Math"/>
                              </a:rPr>
                              <m:t>−(</m:t>
                            </m:r>
                            <m:r>
                              <a:rPr lang="en-AU" sz="2000" b="0" i="1" smtClean="0">
                                <a:latin typeface="Cambria Math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en-AU" sz="20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AU" sz="2000" b="0" i="1" smtClean="0">
                                    <a:latin typeface="Cambria Math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AU" sz="2000" b="0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AU" sz="2000" b="0" i="1" smtClean="0">
                                <a:latin typeface="Cambria Math"/>
                              </a:rPr>
                              <m:t>𝜃</m:t>
                            </m:r>
                            <m:r>
                              <a:rPr lang="en-AU" sz="2000" b="0" i="1" smtClean="0">
                                <a:latin typeface="Cambria Math"/>
                              </a:rPr>
                              <m:t>)/</m:t>
                            </m:r>
                            <m:r>
                              <a:rPr lang="en-AU" sz="2000" b="0" i="1" smtClean="0">
                                <a:latin typeface="Cambria Math"/>
                              </a:rPr>
                              <m:t>𝜎</m:t>
                            </m:r>
                          </m:sup>
                        </m:sSup>
                      </m:den>
                    </m:f>
                  </m:oMath>
                </a14:m>
                <a:endParaRPr lang="en-AU" sz="2000" b="1" smtClean="0"/>
              </a:p>
              <a:p>
                <a:pPr marL="0" indent="0">
                  <a:buNone/>
                </a:pPr>
                <a:endParaRPr lang="en-AU" sz="2000" b="1" smtClean="0"/>
              </a:p>
              <a:p>
                <a:pPr marL="0" indent="0">
                  <a:buNone/>
                </a:pPr>
                <a:r>
                  <a:rPr lang="en-AU" sz="2000" b="1" smtClean="0"/>
                  <a:t>Transfer function: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 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𝜔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𝜔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 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𝑒𝑠𝑛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𝑠𝑟𝑠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1−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𝐿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𝑒𝑖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𝐿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𝑒𝑒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000" b="0" i="1" smtClean="0">
                              <a:latin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𝑒𝑠𝑒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𝑒𝑠𝑟𝑒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AU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340768"/>
                <a:ext cx="8496944" cy="5400600"/>
              </a:xfrm>
              <a:blipFill rotWithShape="1">
                <a:blip r:embed="rId2"/>
                <a:stretch>
                  <a:fillRect l="-1220" t="-1467" r="-25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Neural field model</a:t>
            </a:r>
            <a:endParaRPr lang="en-A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680" y="2861983"/>
            <a:ext cx="2987792" cy="243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83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Neural field model</a:t>
            </a:r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1691680" y="1988840"/>
            <a:ext cx="5760640" cy="41044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714" y="2067644"/>
            <a:ext cx="5262468" cy="3953644"/>
          </a:xfr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179512" y="1124744"/>
            <a:ext cx="8424936" cy="3672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AU" sz="2800" smtClean="0"/>
              <a:t>GPi </a:t>
            </a:r>
            <a:r>
              <a:rPr lang="en-AU" sz="2800" smtClean="0"/>
              <a:t>links basal ganglia to rest of </a:t>
            </a:r>
            <a:r>
              <a:rPr lang="en-AU" sz="2800" smtClean="0"/>
              <a:t>brain:</a:t>
            </a:r>
            <a:endParaRPr lang="en-AU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043608" y="4797152"/>
            <a:ext cx="504056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86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457200" y="1207293"/>
            <a:ext cx="8229600" cy="4525963"/>
          </a:xfrm>
        </p:spPr>
        <p:txBody>
          <a:bodyPr/>
          <a:lstStyle/>
          <a:p>
            <a:r>
              <a:rPr lang="en-AU" sz="2800" smtClean="0"/>
              <a:t>Firing rates in the field model drive an ensemble of Poisson processes, which then drive the network</a:t>
            </a:r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From field to network </a:t>
            </a:r>
            <a:endParaRPr lang="en-AU"/>
          </a:p>
        </p:txBody>
      </p:sp>
      <p:grpSp>
        <p:nvGrpSpPr>
          <p:cNvPr id="3" name="Group 2"/>
          <p:cNvGrpSpPr/>
          <p:nvPr/>
        </p:nvGrpSpPr>
        <p:grpSpPr>
          <a:xfrm>
            <a:off x="1547664" y="2492896"/>
            <a:ext cx="6336704" cy="3744416"/>
            <a:chOff x="1547664" y="2060848"/>
            <a:chExt cx="6336704" cy="3744416"/>
          </a:xfrm>
        </p:grpSpPr>
        <p:sp>
          <p:nvSpPr>
            <p:cNvPr id="50" name="Rectangle 49"/>
            <p:cNvSpPr/>
            <p:nvPr/>
          </p:nvSpPr>
          <p:spPr>
            <a:xfrm>
              <a:off x="1547664" y="2060848"/>
              <a:ext cx="6336704" cy="37444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940152" y="2379638"/>
              <a:ext cx="1512168" cy="3024336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20000"/>
              </a:schemeClr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US" b="1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Network</a:t>
              </a:r>
              <a:endParaRPr lang="en-US" b="1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123728" y="2672916"/>
              <a:ext cx="828092" cy="2484276"/>
            </a:xfrm>
            <a:prstGeom prst="rect">
              <a:avLst/>
            </a:prstGeom>
            <a:solidFill>
              <a:srgbClr val="77933C">
                <a:alpha val="10196"/>
              </a:srgbClr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US" b="1" smtClean="0">
                  <a:solidFill>
                    <a:schemeClr val="accent3">
                      <a:lumMod val="75000"/>
                    </a:schemeClr>
                  </a:solidFill>
                </a:rPr>
                <a:t>Field</a:t>
              </a:r>
              <a:endParaRPr lang="en-US" b="1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" name="Oval 3"/>
            <p:cNvSpPr/>
            <p:nvPr/>
          </p:nvSpPr>
          <p:spPr>
            <a:xfrm>
              <a:off x="6948264" y="3171726"/>
              <a:ext cx="144016" cy="144016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6768244" y="3459758"/>
              <a:ext cx="144016" cy="144016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7020272" y="4467870"/>
              <a:ext cx="144016" cy="144016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6768244" y="4755902"/>
              <a:ext cx="144016" cy="144016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6660232" y="2739678"/>
              <a:ext cx="144016" cy="144016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156176" y="3099718"/>
              <a:ext cx="144016" cy="144016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6388968" y="3819798"/>
              <a:ext cx="144016" cy="144016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6516216" y="4251846"/>
              <a:ext cx="144016" cy="144016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6300192" y="4971926"/>
              <a:ext cx="144016" cy="144016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6696236" y="5187950"/>
              <a:ext cx="144016" cy="144016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411760" y="3284984"/>
              <a:ext cx="288032" cy="360040"/>
            </a:xfrm>
            <a:prstGeom prst="rect">
              <a:avLst/>
            </a:prstGeom>
            <a:solidFill>
              <a:schemeClr val="accent3">
                <a:lumMod val="50000"/>
                <a:alpha val="20000"/>
              </a:schemeClr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US" i="1" smtClean="0"/>
                <a:t>p</a:t>
              </a:r>
              <a:r>
                <a:rPr lang="en-US" baseline="-25000" smtClean="0"/>
                <a:t>1</a:t>
              </a:r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411760" y="3861048"/>
              <a:ext cx="288032" cy="360040"/>
            </a:xfrm>
            <a:prstGeom prst="rect">
              <a:avLst/>
            </a:prstGeom>
            <a:solidFill>
              <a:schemeClr val="accent6">
                <a:lumMod val="75000"/>
                <a:alpha val="20000"/>
              </a:schemeClr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US" i="1"/>
                <a:t>p</a:t>
              </a:r>
              <a:r>
                <a:rPr lang="en-US" baseline="-25000" smtClean="0"/>
                <a:t>2</a:t>
              </a:r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411760" y="4437112"/>
              <a:ext cx="288032" cy="360040"/>
            </a:xfrm>
            <a:prstGeom prst="rect">
              <a:avLst/>
            </a:prstGeom>
            <a:solidFill>
              <a:srgbClr val="92D050">
                <a:alpha val="20000"/>
              </a:srgbClr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US" i="1"/>
                <a:t>p</a:t>
              </a:r>
              <a:r>
                <a:rPr lang="en-US" baseline="-25000" smtClean="0"/>
                <a:t>3</a:t>
              </a:r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464000" y="2811686"/>
              <a:ext cx="108000" cy="10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464000" y="3079166"/>
              <a:ext cx="108000" cy="10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464000" y="3346646"/>
              <a:ext cx="108000" cy="10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464000" y="3614126"/>
              <a:ext cx="108000" cy="10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464000" y="3881606"/>
              <a:ext cx="108000" cy="10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464000" y="4149086"/>
              <a:ext cx="108000" cy="10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464000" y="4416566"/>
              <a:ext cx="108000" cy="10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464000" y="4684046"/>
              <a:ext cx="108000" cy="108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464000" y="4951526"/>
              <a:ext cx="108000" cy="108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464000" y="5219006"/>
              <a:ext cx="108000" cy="108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>
              <a:stCxn id="14" idx="3"/>
              <a:endCxn id="17" idx="1"/>
            </p:cNvCxnSpPr>
            <p:nvPr/>
          </p:nvCxnSpPr>
          <p:spPr>
            <a:xfrm flipV="1">
              <a:off x="2699792" y="2865686"/>
              <a:ext cx="1764208" cy="59931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14" idx="3"/>
              <a:endCxn id="18" idx="1"/>
            </p:cNvCxnSpPr>
            <p:nvPr/>
          </p:nvCxnSpPr>
          <p:spPr>
            <a:xfrm flipV="1">
              <a:off x="2699792" y="3133166"/>
              <a:ext cx="1764208" cy="33183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4" idx="3"/>
              <a:endCxn id="19" idx="1"/>
            </p:cNvCxnSpPr>
            <p:nvPr/>
          </p:nvCxnSpPr>
          <p:spPr>
            <a:xfrm flipV="1">
              <a:off x="2699792" y="3400646"/>
              <a:ext cx="1764208" cy="6435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5" idx="3"/>
              <a:endCxn id="20" idx="1"/>
            </p:cNvCxnSpPr>
            <p:nvPr/>
          </p:nvCxnSpPr>
          <p:spPr>
            <a:xfrm flipV="1">
              <a:off x="2699792" y="3668126"/>
              <a:ext cx="1764208" cy="372942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15" idx="3"/>
              <a:endCxn id="21" idx="1"/>
            </p:cNvCxnSpPr>
            <p:nvPr/>
          </p:nvCxnSpPr>
          <p:spPr>
            <a:xfrm flipV="1">
              <a:off x="2699792" y="3935606"/>
              <a:ext cx="1764208" cy="105462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15" idx="3"/>
              <a:endCxn id="22" idx="1"/>
            </p:cNvCxnSpPr>
            <p:nvPr/>
          </p:nvCxnSpPr>
          <p:spPr>
            <a:xfrm>
              <a:off x="2699792" y="4041068"/>
              <a:ext cx="1764208" cy="162018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15" idx="3"/>
              <a:endCxn id="23" idx="1"/>
            </p:cNvCxnSpPr>
            <p:nvPr/>
          </p:nvCxnSpPr>
          <p:spPr>
            <a:xfrm>
              <a:off x="2699792" y="4041068"/>
              <a:ext cx="1764208" cy="429498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6" idx="3"/>
              <a:endCxn id="24" idx="1"/>
            </p:cNvCxnSpPr>
            <p:nvPr/>
          </p:nvCxnSpPr>
          <p:spPr>
            <a:xfrm>
              <a:off x="2699792" y="4617132"/>
              <a:ext cx="1764208" cy="120914"/>
            </a:xfrm>
            <a:prstGeom prst="straightConnector1">
              <a:avLst/>
            </a:prstGeom>
            <a:ln w="19050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16" idx="3"/>
              <a:endCxn id="25" idx="1"/>
            </p:cNvCxnSpPr>
            <p:nvPr/>
          </p:nvCxnSpPr>
          <p:spPr>
            <a:xfrm>
              <a:off x="2699792" y="4617132"/>
              <a:ext cx="1764208" cy="388394"/>
            </a:xfrm>
            <a:prstGeom prst="straightConnector1">
              <a:avLst/>
            </a:prstGeom>
            <a:ln w="19050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16" idx="3"/>
              <a:endCxn id="26" idx="1"/>
            </p:cNvCxnSpPr>
            <p:nvPr/>
          </p:nvCxnSpPr>
          <p:spPr>
            <a:xfrm>
              <a:off x="2699792" y="4617132"/>
              <a:ext cx="1764208" cy="655874"/>
            </a:xfrm>
            <a:prstGeom prst="straightConnector1">
              <a:avLst/>
            </a:prstGeom>
            <a:ln w="19050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17" idx="3"/>
              <a:endCxn id="8" idx="2"/>
            </p:cNvCxnSpPr>
            <p:nvPr/>
          </p:nvCxnSpPr>
          <p:spPr>
            <a:xfrm flipV="1">
              <a:off x="4572000" y="2811686"/>
              <a:ext cx="2088232" cy="5400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18" idx="3"/>
              <a:endCxn id="9" idx="2"/>
            </p:cNvCxnSpPr>
            <p:nvPr/>
          </p:nvCxnSpPr>
          <p:spPr>
            <a:xfrm>
              <a:off x="4572000" y="3133166"/>
              <a:ext cx="1584176" cy="3856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9" idx="3"/>
              <a:endCxn id="4" idx="2"/>
            </p:cNvCxnSpPr>
            <p:nvPr/>
          </p:nvCxnSpPr>
          <p:spPr>
            <a:xfrm flipV="1">
              <a:off x="4572000" y="3243734"/>
              <a:ext cx="2376264" cy="156912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20" idx="3"/>
              <a:endCxn id="5" idx="2"/>
            </p:cNvCxnSpPr>
            <p:nvPr/>
          </p:nvCxnSpPr>
          <p:spPr>
            <a:xfrm flipV="1">
              <a:off x="4572000" y="3531766"/>
              <a:ext cx="2196244" cy="136360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21" idx="3"/>
              <a:endCxn id="10" idx="2"/>
            </p:cNvCxnSpPr>
            <p:nvPr/>
          </p:nvCxnSpPr>
          <p:spPr>
            <a:xfrm flipV="1">
              <a:off x="4572000" y="3891806"/>
              <a:ext cx="1816968" cy="43800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22" idx="3"/>
              <a:endCxn id="11" idx="2"/>
            </p:cNvCxnSpPr>
            <p:nvPr/>
          </p:nvCxnSpPr>
          <p:spPr>
            <a:xfrm>
              <a:off x="4572000" y="4203086"/>
              <a:ext cx="1944216" cy="120768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23" idx="3"/>
              <a:endCxn id="6" idx="2"/>
            </p:cNvCxnSpPr>
            <p:nvPr/>
          </p:nvCxnSpPr>
          <p:spPr>
            <a:xfrm>
              <a:off x="4572000" y="4470566"/>
              <a:ext cx="2448272" cy="69312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24" idx="3"/>
              <a:endCxn id="7" idx="2"/>
            </p:cNvCxnSpPr>
            <p:nvPr/>
          </p:nvCxnSpPr>
          <p:spPr>
            <a:xfrm>
              <a:off x="4572000" y="4738046"/>
              <a:ext cx="2196244" cy="89864"/>
            </a:xfrm>
            <a:prstGeom prst="straightConnector1">
              <a:avLst/>
            </a:prstGeom>
            <a:ln w="19050">
              <a:solidFill>
                <a:srgbClr val="92D05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25" idx="3"/>
              <a:endCxn id="12" idx="2"/>
            </p:cNvCxnSpPr>
            <p:nvPr/>
          </p:nvCxnSpPr>
          <p:spPr>
            <a:xfrm>
              <a:off x="4572000" y="5005526"/>
              <a:ext cx="1728192" cy="38408"/>
            </a:xfrm>
            <a:prstGeom prst="straightConnector1">
              <a:avLst/>
            </a:prstGeom>
            <a:ln w="19050">
              <a:solidFill>
                <a:srgbClr val="92D05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26" idx="3"/>
              <a:endCxn id="13" idx="2"/>
            </p:cNvCxnSpPr>
            <p:nvPr/>
          </p:nvCxnSpPr>
          <p:spPr>
            <a:xfrm flipV="1">
              <a:off x="4572000" y="5259958"/>
              <a:ext cx="2124236" cy="13048"/>
            </a:xfrm>
            <a:prstGeom prst="straightConnector1">
              <a:avLst/>
            </a:prstGeom>
            <a:ln w="19050">
              <a:solidFill>
                <a:srgbClr val="92D05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3977940" y="2379638"/>
              <a:ext cx="1080120" cy="3024336"/>
            </a:xfrm>
            <a:prstGeom prst="rect">
              <a:avLst/>
            </a:prstGeom>
            <a:solidFill>
              <a:schemeClr val="tx1">
                <a:alpha val="20000"/>
              </a:schemeClr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US" b="1" smtClean="0"/>
                <a:t>Poisson</a:t>
              </a:r>
              <a:endParaRPr lang="en-US" b="1"/>
            </a:p>
          </p:txBody>
        </p:sp>
      </p:grpSp>
    </p:spTree>
    <p:extLst>
      <p:ext uri="{BB962C8B-B14F-4D97-AF65-F5344CB8AC3E}">
        <p14:creationId xmlns:p14="http://schemas.microsoft.com/office/powerpoint/2010/main" val="276397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59832" y="1052736"/>
            <a:ext cx="5832648" cy="53285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Field model dynamics</a:t>
            </a:r>
            <a:endParaRPr lang="en-AU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207293"/>
            <a:ext cx="2458616" cy="5059537"/>
          </a:xfrm>
        </p:spPr>
        <p:txBody>
          <a:bodyPr>
            <a:normAutofit fontScale="92500" lnSpcReduction="20000"/>
          </a:bodyPr>
          <a:lstStyle/>
          <a:p>
            <a:endParaRPr lang="en-AU" smtClean="0"/>
          </a:p>
          <a:p>
            <a:r>
              <a:rPr lang="en-AU" smtClean="0"/>
              <a:t>PD disrupts coherence between basal ganglia nuclei</a:t>
            </a:r>
          </a:p>
          <a:p>
            <a:endParaRPr lang="en-AU" smtClean="0"/>
          </a:p>
          <a:p>
            <a:r>
              <a:rPr lang="en-AU" smtClean="0"/>
              <a:t>PD changes spectral power in beta/gamma bands</a:t>
            </a:r>
            <a:endParaRPr lang="en-AU"/>
          </a:p>
        </p:txBody>
      </p:sp>
      <p:pic>
        <p:nvPicPr>
          <p:cNvPr id="7" name="Content Placeholder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259" y="1231727"/>
            <a:ext cx="5601205" cy="50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7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55576" y="1052736"/>
            <a:ext cx="7632848" cy="53285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Network model dynamics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220" y="1216340"/>
            <a:ext cx="7337561" cy="5116177"/>
          </a:xfrm>
        </p:spPr>
      </p:pic>
    </p:spTree>
    <p:extLst>
      <p:ext uri="{BB962C8B-B14F-4D97-AF65-F5344CB8AC3E}">
        <p14:creationId xmlns:p14="http://schemas.microsoft.com/office/powerpoint/2010/main" val="115978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87624" y="1124744"/>
            <a:ext cx="6768752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Network spectra</a:t>
            </a:r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088" y="1404959"/>
            <a:ext cx="5764232" cy="4688337"/>
          </a:xfrm>
        </p:spPr>
      </p:pic>
    </p:spTree>
    <p:extLst>
      <p:ext uri="{BB962C8B-B14F-4D97-AF65-F5344CB8AC3E}">
        <p14:creationId xmlns:p14="http://schemas.microsoft.com/office/powerpoint/2010/main" val="1907560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87624" y="1124744"/>
            <a:ext cx="6768752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Burst probability</a:t>
            </a:r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026" y="1752996"/>
            <a:ext cx="5517949" cy="4196284"/>
          </a:xfrm>
        </p:spPr>
      </p:pic>
    </p:spTree>
    <p:extLst>
      <p:ext uri="{BB962C8B-B14F-4D97-AF65-F5344CB8AC3E}">
        <p14:creationId xmlns:p14="http://schemas.microsoft.com/office/powerpoint/2010/main" val="1524537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3568" y="1052736"/>
            <a:ext cx="7848872" cy="540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Granger causality</a:t>
            </a:r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33" y="1162917"/>
            <a:ext cx="7518134" cy="5218411"/>
          </a:xfrm>
        </p:spPr>
      </p:pic>
    </p:spTree>
    <p:extLst>
      <p:ext uri="{BB962C8B-B14F-4D97-AF65-F5344CB8AC3E}">
        <p14:creationId xmlns:p14="http://schemas.microsoft.com/office/powerpoint/2010/main" val="361072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7293"/>
            <a:ext cx="8229600" cy="5246043"/>
          </a:xfrm>
        </p:spPr>
        <p:txBody>
          <a:bodyPr>
            <a:normAutofit/>
          </a:bodyPr>
          <a:lstStyle/>
          <a:p>
            <a:r>
              <a:rPr lang="en-AU" smtClean="0"/>
              <a:t>Model can reproduce many features of Parkinson’s disease (e.g. reduced cortical firing, increased coherence)</a:t>
            </a:r>
          </a:p>
          <a:p>
            <a:r>
              <a:rPr lang="en-AU" smtClean="0"/>
              <a:t>Granger </a:t>
            </a:r>
            <a:r>
              <a:rPr lang="en-AU"/>
              <a:t>causality </a:t>
            </a:r>
            <a:r>
              <a:rPr lang="en-AU" smtClean="0"/>
              <a:t>between cortical </a:t>
            </a:r>
            <a:r>
              <a:rPr lang="en-AU"/>
              <a:t>layers was markedly reduced in PD – possible explanation </a:t>
            </a:r>
            <a:r>
              <a:rPr lang="en-AU" smtClean="0"/>
              <a:t>of </a:t>
            </a:r>
            <a:r>
              <a:rPr lang="en-AU" smtClean="0"/>
              <a:t>bradyphrenia (…and bradykinesia?)</a:t>
            </a:r>
            <a:endParaRPr lang="en-AU" smtClean="0"/>
          </a:p>
          <a:p>
            <a:r>
              <a:rPr lang="en-AU"/>
              <a:t>Different input drives </a:t>
            </a:r>
            <a:r>
              <a:rPr lang="en-AU" smtClean="0"/>
              <a:t>had a </a:t>
            </a:r>
            <a:r>
              <a:rPr lang="en-AU"/>
              <a:t>major </a:t>
            </a:r>
            <a:r>
              <a:rPr lang="en-AU" smtClean="0"/>
              <a:t>effect </a:t>
            </a:r>
            <a:r>
              <a:rPr lang="en-AU"/>
              <a:t>on the model </a:t>
            </a:r>
            <a:r>
              <a:rPr lang="en-AU" smtClean="0"/>
              <a:t>dynamics</a:t>
            </a:r>
          </a:p>
          <a:p>
            <a:pPr lvl="1"/>
            <a:r>
              <a:rPr lang="en-AU" smtClean="0"/>
              <a:t>Where </a:t>
            </a:r>
            <a:r>
              <a:rPr lang="en-AU"/>
              <a:t>possible, </a:t>
            </a:r>
            <a:r>
              <a:rPr lang="en-AU" smtClean="0"/>
              <a:t>realistic inputs should </a:t>
            </a:r>
            <a:r>
              <a:rPr lang="en-AU"/>
              <a:t>be used instead of white </a:t>
            </a:r>
            <a:r>
              <a:rPr lang="en-AU" smtClean="0"/>
              <a:t>noise for driving network models </a:t>
            </a:r>
            <a:endParaRPr lang="en-AU"/>
          </a:p>
          <a:p>
            <a:endParaRPr lang="en-AU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1562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4" descr="golden-ginko.jpg"/>
          <p:cNvPicPr>
            <a:picLocks noChangeAspect="1"/>
          </p:cNvPicPr>
          <p:nvPr/>
        </p:nvPicPr>
        <p:blipFill>
          <a:blip r:embed="rId3" cstate="print">
            <a:lum bright="3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8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u="sng" dirty="0" smtClean="0">
                <a:latin typeface="Garamond MT" pitchFamily="18" charset="0"/>
              </a:rPr>
              <a:t>Acknowledgements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idx="1"/>
          </p:nvPr>
        </p:nvSpPr>
        <p:spPr>
          <a:xfrm>
            <a:off x="1907704" y="1213913"/>
            <a:ext cx="7056784" cy="5762625"/>
          </a:xfrm>
        </p:spPr>
        <p:txBody>
          <a:bodyPr/>
          <a:lstStyle/>
          <a:p>
            <a:pPr>
              <a:buNone/>
            </a:pPr>
            <a:r>
              <a:rPr lang="en-AU">
                <a:latin typeface="Garamond MT" pitchFamily="18" charset="0"/>
              </a:rPr>
              <a:t>Sacha J. van Albada</a:t>
            </a:r>
          </a:p>
          <a:p>
            <a:pPr eaLnBrk="1" hangingPunct="1">
              <a:buFontTx/>
              <a:buNone/>
            </a:pPr>
            <a:endParaRPr lang="en-AU" dirty="0" smtClean="0">
              <a:latin typeface="Garamond MT" pitchFamily="18" charset="0"/>
            </a:endParaRPr>
          </a:p>
          <a:p>
            <a:pPr eaLnBrk="1" hangingPunct="1">
              <a:buFontTx/>
              <a:buNone/>
            </a:pPr>
            <a:r>
              <a:rPr lang="en-AU" dirty="0" smtClean="0">
                <a:latin typeface="Garamond MT" pitchFamily="18" charset="0"/>
              </a:rPr>
              <a:t>	</a:t>
            </a:r>
            <a:r>
              <a:rPr lang="en-AU" smtClean="0">
                <a:latin typeface="Garamond MT" pitchFamily="18" charset="0"/>
              </a:rPr>
              <a:t>	        Samuel A. Neymotin</a:t>
            </a:r>
            <a:endParaRPr lang="en-AU" dirty="0" smtClean="0">
              <a:latin typeface="Garamond MT" pitchFamily="18" charset="0"/>
            </a:endParaRPr>
          </a:p>
          <a:p>
            <a:pPr eaLnBrk="1" hangingPunct="1">
              <a:buFontTx/>
              <a:buNone/>
            </a:pPr>
            <a:endParaRPr lang="en-AU" smtClean="0">
              <a:latin typeface="Garamond MT" pitchFamily="18" charset="0"/>
            </a:endParaRPr>
          </a:p>
          <a:p>
            <a:pPr>
              <a:buNone/>
            </a:pPr>
            <a:r>
              <a:rPr lang="en-AU" smtClean="0">
                <a:latin typeface="Garamond MT" pitchFamily="18" charset="0"/>
              </a:rPr>
              <a:t>George </a:t>
            </a:r>
            <a:r>
              <a:rPr lang="en-AU">
                <a:latin typeface="Garamond MT" pitchFamily="18" charset="0"/>
              </a:rPr>
              <a:t>L. Chadderdon III</a:t>
            </a:r>
          </a:p>
          <a:p>
            <a:pPr eaLnBrk="1" hangingPunct="1">
              <a:buFontTx/>
              <a:buNone/>
            </a:pPr>
            <a:endParaRPr lang="en-AU" dirty="0" smtClean="0">
              <a:latin typeface="Garamond MT" pitchFamily="18" charset="0"/>
            </a:endParaRPr>
          </a:p>
          <a:p>
            <a:pPr eaLnBrk="1" hangingPunct="1">
              <a:buFontTx/>
              <a:buNone/>
            </a:pPr>
            <a:r>
              <a:rPr lang="en-AU" smtClean="0">
                <a:latin typeface="Garamond MT" pitchFamily="18" charset="0"/>
              </a:rPr>
              <a:t>                    Peter A. Robinson</a:t>
            </a:r>
            <a:endParaRPr lang="en-AU" dirty="0">
              <a:latin typeface="Garamond MT" pitchFamily="18" charset="0"/>
            </a:endParaRPr>
          </a:p>
          <a:p>
            <a:pPr eaLnBrk="1" hangingPunct="1">
              <a:buFontTx/>
              <a:buNone/>
            </a:pPr>
            <a:endParaRPr lang="en-AU" smtClean="0">
              <a:latin typeface="Garamond MT" pitchFamily="18" charset="0"/>
            </a:endParaRPr>
          </a:p>
          <a:p>
            <a:pPr eaLnBrk="1" hangingPunct="1">
              <a:buFontTx/>
              <a:buNone/>
            </a:pPr>
            <a:r>
              <a:rPr lang="en-AU" smtClean="0">
                <a:latin typeface="Garamond MT" pitchFamily="18" charset="0"/>
              </a:rPr>
              <a:t>William </a:t>
            </a:r>
            <a:r>
              <a:rPr lang="en-AU">
                <a:latin typeface="Garamond MT" pitchFamily="18" charset="0"/>
              </a:rPr>
              <a:t>W. Lytton</a:t>
            </a:r>
          </a:p>
          <a:p>
            <a:pPr eaLnBrk="1" hangingPunct="1">
              <a:buFontTx/>
              <a:buNone/>
            </a:pPr>
            <a:endParaRPr lang="en-AU" sz="2000" dirty="0" smtClean="0">
              <a:latin typeface="Garamond MT" pitchFamily="18" charset="0"/>
            </a:endParaRPr>
          </a:p>
          <a:p>
            <a:pPr eaLnBrk="1" hangingPunct="1">
              <a:buFontTx/>
              <a:buNone/>
            </a:pPr>
            <a:endParaRPr lang="en-AU" sz="2800" dirty="0" smtClean="0">
              <a:latin typeface="Garamond MT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7" y="1556792"/>
            <a:ext cx="1815111" cy="202617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97" y="2458933"/>
            <a:ext cx="1361793" cy="219420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64" y="764704"/>
            <a:ext cx="1347926" cy="144323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98" y="4911695"/>
            <a:ext cx="1361792" cy="181799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479" y="4077072"/>
            <a:ext cx="1837919" cy="20629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9714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oodGaramond">
      <a:majorFont>
        <a:latin typeface="Garamond MT"/>
        <a:ea typeface=""/>
        <a:cs typeface=""/>
      </a:majorFont>
      <a:minorFont>
        <a:latin typeface="Garamond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2946</TotalTime>
  <Words>406</Words>
  <Application>Microsoft Office PowerPoint</Application>
  <PresentationFormat>On-screen Show (4:3)</PresentationFormat>
  <Paragraphs>77</Paragraphs>
  <Slides>16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How Parkinson’s disease affects cortical information flow: A multiscale model</vt:lpstr>
      <vt:lpstr>Parkinson’s disease</vt:lpstr>
      <vt:lpstr>Spiking network model</vt:lpstr>
      <vt:lpstr>Spiking network model</vt:lpstr>
      <vt:lpstr>Spiking network model</vt:lpstr>
      <vt:lpstr>Neural field model</vt:lpstr>
      <vt:lpstr>Neural field model</vt:lpstr>
      <vt:lpstr>Neural field model</vt:lpstr>
      <vt:lpstr>From field to network </vt:lpstr>
      <vt:lpstr>Field model dynamics</vt:lpstr>
      <vt:lpstr>Network model dynamics</vt:lpstr>
      <vt:lpstr>Network spectra</vt:lpstr>
      <vt:lpstr>Burst probability</vt:lpstr>
      <vt:lpstr>Granger causality</vt:lpstr>
      <vt:lpstr>Summary</vt:lpstr>
      <vt:lpstr>Acknowledgements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Oscillations in the brain</dc:title>
  <dc:creator>Cliff Kerr</dc:creator>
  <cp:lastModifiedBy>Cliff Kerr</cp:lastModifiedBy>
  <cp:revision>378</cp:revision>
  <dcterms:created xsi:type="dcterms:W3CDTF">2011-09-03T07:13:05Z</dcterms:created>
  <dcterms:modified xsi:type="dcterms:W3CDTF">2013-01-29T21:57:30Z</dcterms:modified>
</cp:coreProperties>
</file>