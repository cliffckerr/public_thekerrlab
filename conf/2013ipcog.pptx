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301" r:id="rId3"/>
    <p:sldId id="297" r:id="rId4"/>
    <p:sldId id="294" r:id="rId5"/>
    <p:sldId id="312" r:id="rId6"/>
    <p:sldId id="298" r:id="rId7"/>
    <p:sldId id="295" r:id="rId8"/>
    <p:sldId id="313" r:id="rId9"/>
    <p:sldId id="296" r:id="rId10"/>
    <p:sldId id="300" r:id="rId11"/>
    <p:sldId id="302" r:id="rId12"/>
    <p:sldId id="306" r:id="rId13"/>
    <p:sldId id="308" r:id="rId14"/>
    <p:sldId id="310" r:id="rId15"/>
    <p:sldId id="311" r:id="rId16"/>
    <p:sldId id="29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33C"/>
    <a:srgbClr val="80C535"/>
    <a:srgbClr val="FF6600"/>
    <a:srgbClr val="396497"/>
    <a:srgbClr val="3F6EA7"/>
    <a:srgbClr val="4A7EBB"/>
    <a:srgbClr val="FFCC00"/>
    <a:srgbClr val="CC4900"/>
    <a:srgbClr val="F5F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01D4E-BAC5-43AD-B916-DDA19C91931B}" type="datetimeFigureOut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6F6A-5A33-465E-BED7-AFD61A680E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8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3E8888-A394-4F85-8584-1860E4AD0DF8}" type="slidenum">
              <a:rPr lang="en-AU" smtClean="0"/>
              <a:pPr/>
              <a:t>1</a:t>
            </a:fld>
            <a:endParaRPr lang="en-AU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AU" smtClean="0"/>
              <a:t>.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D34252-7A9E-4FEA-8B1A-26E73D29D0AC}" type="slidenum">
              <a:rPr lang="en-AU" smtClean="0"/>
              <a:pPr/>
              <a:t>16</a:t>
            </a:fld>
            <a:endParaRPr lang="en-A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5FB61F-078B-4B80-BDC7-AAB6567E54E4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01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1640" y="5805264"/>
            <a:ext cx="2133600" cy="365125"/>
          </a:xfrm>
          <a:prstGeom prst="rect">
            <a:avLst/>
          </a:prstGeom>
        </p:spPr>
        <p:txBody>
          <a:bodyPr/>
          <a:lstStyle/>
          <a:p>
            <a:fld id="{15FA29D2-F567-403A-83A9-48E25291DDD2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98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DB32EB7-0147-4A47-B50B-3B2DC8CAD91A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48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0B18D2C-C65E-4B20-B9D4-4DEC2400BE0C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809D12-0F04-49EE-B935-6D3A650F5A8A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9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03472AF-878E-43D0-9EE3-D9D12E9187D1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4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D2952A2-753B-4C84-B882-8D06D9DE4981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2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E68096C-26B6-47BE-B4C7-0A617B4381A9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4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E571F22-D4F4-415B-878B-B082C1028164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110EAF6-65D9-42B0-B6E5-CD90592DB703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0069175-FE15-4071-B105-767120D28141}" type="datetime1">
              <a:rPr lang="en-US" smtClean="0"/>
              <a:pPr/>
              <a:t>2/27/2013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3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  <a:alpha val="41000"/>
              </a:schemeClr>
            </a:gs>
            <a:gs pos="100000">
              <a:srgbClr val="F5F3AF">
                <a:alpha val="58000"/>
                <a:lumMod val="97000"/>
                <a:lumOff val="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980728"/>
            <a:ext cx="8208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0" y="6526800"/>
            <a:ext cx="9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C01C431-FDFF-4A2C-961A-089C0B79C46D}" type="slidenum">
              <a:rPr lang="en-US" sz="1200" smtClean="0">
                <a:solidFill>
                  <a:schemeClr val="bg1">
                    <a:lumMod val="65000"/>
                  </a:schemeClr>
                </a:solidFill>
                <a:latin typeface="+mj-lt"/>
                <a:cs typeface="Calibri" pitchFamily="34" charset="0"/>
              </a:rPr>
              <a:pPr/>
              <a:t>‹#›</a:t>
            </a:fld>
            <a:r>
              <a:rPr lang="en-US" sz="1200" smtClean="0">
                <a:solidFill>
                  <a:schemeClr val="bg1">
                    <a:lumMod val="65000"/>
                  </a:schemeClr>
                </a:solidFill>
                <a:latin typeface="+mj-lt"/>
                <a:cs typeface="Calibri" pitchFamily="34" charset="0"/>
              </a:rPr>
              <a:t>/15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+mj-lt"/>
              <a:cs typeface="Calibri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424938" y="6525344"/>
            <a:ext cx="4310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65000"/>
                  </a:schemeClr>
                </a:solidFill>
              </a:rPr>
              <a:t>Cliff Kerr 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| Multiscale</a:t>
            </a:r>
            <a:r>
              <a:rPr lang="en-US" sz="1200" baseline="0" smtClean="0">
                <a:solidFill>
                  <a:schemeClr val="bg1">
                    <a:lumMod val="65000"/>
                  </a:schemeClr>
                </a:solidFill>
              </a:rPr>
              <a:t> model of Parkinson’s disease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 | 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Feb. 27</a:t>
            </a:r>
            <a:r>
              <a:rPr lang="en-US" sz="1200" baseline="30000" smtClean="0">
                <a:solidFill>
                  <a:schemeClr val="bg1">
                    <a:lumMod val="65000"/>
                  </a:schemeClr>
                </a:solidFill>
              </a:rPr>
              <a:t>th</a:t>
            </a:r>
            <a:r>
              <a:rPr lang="en-US" sz="1200" smtClean="0">
                <a:solidFill>
                  <a:schemeClr val="bg1">
                    <a:lumMod val="65000"/>
                  </a:schemeClr>
                </a:solidFill>
              </a:rPr>
              <a:t>, 2013</a:t>
            </a:r>
            <a:endParaRPr 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20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39000">
              <a:schemeClr val="accent1">
                <a:tint val="44500"/>
                <a:satMod val="160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131256"/>
            <a:ext cx="8215370" cy="969592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prstClr val="black"/>
                </a:solidFill>
                <a:latin typeface="Garamond" pitchFamily="18" charset="0"/>
              </a:rPr>
              <a:t>Multiscale modeling of cortical information flow in Parkinson's </a:t>
            </a:r>
            <a:r>
              <a:rPr lang="en-US" sz="3600" b="1" smtClean="0">
                <a:solidFill>
                  <a:prstClr val="black"/>
                </a:solidFill>
                <a:latin typeface="Garamond" pitchFamily="18" charset="0"/>
              </a:rPr>
              <a:t>disease</a:t>
            </a:r>
            <a:endParaRPr lang="en-AU" sz="3800" b="1" dirty="0" smtClean="0">
              <a:latin typeface="Garamond MT" pitchFamily="18" charset="0"/>
            </a:endParaRP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55576" y="5573120"/>
            <a:ext cx="6400800" cy="72746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AU" sz="2800" b="1" smtClean="0">
                <a:solidFill>
                  <a:schemeClr val="bg1"/>
                </a:solidFill>
                <a:latin typeface="Garamond MT" pitchFamily="18" charset="0"/>
              </a:rPr>
              <a:t>Cliff </a:t>
            </a:r>
            <a:r>
              <a:rPr lang="en-AU" sz="2800" b="1" dirty="0" smtClean="0">
                <a:solidFill>
                  <a:schemeClr val="bg1"/>
                </a:solidFill>
                <a:latin typeface="Garamond MT" pitchFamily="18" charset="0"/>
              </a:rPr>
              <a:t>Kerr</a:t>
            </a:r>
            <a:endParaRPr lang="en-AU" sz="2000" b="1" dirty="0" smtClean="0">
              <a:solidFill>
                <a:schemeClr val="bg1"/>
              </a:solidFill>
              <a:latin typeface="Garamond MT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715008" y="6072206"/>
            <a:ext cx="3474267" cy="78581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Complex Systems</a:t>
            </a:r>
            <a:r>
              <a:rPr kumimoji="0" lang="en-AU" b="1" i="0" u="none" strike="noStrike" kern="0" cap="none" spc="0" normalizeH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 Group</a:t>
            </a:r>
            <a:endParaRPr kumimoji="0" lang="en-AU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ramond MT" pitchFamily="18" charset="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aramond MT" pitchFamily="18" charset="0"/>
                <a:cs typeface="+mn-cs"/>
              </a:rPr>
              <a:t>University of Sydney</a:t>
            </a:r>
            <a:endParaRPr kumimoji="0" lang="en-AU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aramond MT" pitchFamily="18" charset="0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072206"/>
            <a:ext cx="3474267" cy="78581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AU" b="1" kern="0">
                <a:solidFill>
                  <a:schemeClr val="bg1"/>
                </a:solidFill>
                <a:latin typeface="Garamond MT" pitchFamily="18" charset="0"/>
              </a:rPr>
              <a:t>Neurosimulation Laboratory</a:t>
            </a:r>
          </a:p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AU" b="1" kern="0">
                <a:solidFill>
                  <a:schemeClr val="bg1"/>
                </a:solidFill>
                <a:latin typeface="Garamond MT" pitchFamily="18" charset="0"/>
              </a:rPr>
              <a:t>State University of New York</a:t>
            </a:r>
            <a:endParaRPr lang="en-AU" b="1" kern="0" dirty="0">
              <a:solidFill>
                <a:schemeClr val="bg1"/>
              </a:solidFill>
              <a:latin typeface="Garamond MT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116913"/>
            <a:ext cx="5816237" cy="46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3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Parkinson’s disease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108" y="1272299"/>
            <a:ext cx="4171316" cy="4388949"/>
          </a:xfrm>
        </p:spPr>
      </p:pic>
      <p:sp>
        <p:nvSpPr>
          <p:cNvPr id="7" name="Rectangle 6"/>
          <p:cNvSpPr/>
          <p:nvPr/>
        </p:nvSpPr>
        <p:spPr>
          <a:xfrm>
            <a:off x="251520" y="1340768"/>
            <a:ext cx="2952328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Tremor (typically 3-6 Hz</a:t>
            </a:r>
            <a:r>
              <a:rPr lang="en-AU" sz="2800" smtClean="0"/>
              <a:t>)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Bradykinesia (slowness of movement)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Bradyphrenia (slowness of thought)</a:t>
            </a:r>
          </a:p>
        </p:txBody>
      </p:sp>
    </p:spTree>
    <p:extLst>
      <p:ext uri="{BB962C8B-B14F-4D97-AF65-F5344CB8AC3E}">
        <p14:creationId xmlns:p14="http://schemas.microsoft.com/office/powerpoint/2010/main" val="7074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419872" y="1340768"/>
            <a:ext cx="5184576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028" y="1600200"/>
            <a:ext cx="4438265" cy="4525963"/>
          </a:xfrm>
        </p:spPr>
      </p:pic>
      <p:sp>
        <p:nvSpPr>
          <p:cNvPr id="3" name="Rectangle 2"/>
          <p:cNvSpPr/>
          <p:nvPr/>
        </p:nvSpPr>
        <p:spPr>
          <a:xfrm>
            <a:off x="251520" y="1340768"/>
            <a:ext cx="2952328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Event-driven </a:t>
            </a:r>
            <a:r>
              <a:rPr lang="en-AU" sz="2800"/>
              <a:t>integrate-and-fire </a:t>
            </a:r>
            <a:r>
              <a:rPr lang="en-AU" sz="2800" smtClean="0"/>
              <a:t>model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6-layered cortex, 2 thalamic </a:t>
            </a:r>
            <a:r>
              <a:rPr lang="en-AU" sz="2800" smtClean="0"/>
              <a:t>nuclei</a:t>
            </a:r>
            <a:endParaRPr lang="en-AU" sz="2800"/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/>
              <a:t>15 cell </a:t>
            </a:r>
            <a:r>
              <a:rPr lang="en-AU" sz="2800" smtClean="0"/>
              <a:t>types 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sym typeface="Symbol"/>
              </a:rPr>
              <a:t></a:t>
            </a:r>
            <a:r>
              <a:rPr lang="en-AU" sz="2800" smtClean="0"/>
              <a:t>5000 neurons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9191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5544616" cy="3672408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AU" sz="2800"/>
              <a:t>A</a:t>
            </a:r>
            <a:r>
              <a:rPr lang="en-AU" sz="2800" smtClean="0"/>
              <a:t>natomy &amp; physiology based </a:t>
            </a:r>
            <a:r>
              <a:rPr lang="en-AU" sz="2800" dirty="0" smtClean="0"/>
              <a:t>on experimental data</a:t>
            </a:r>
          </a:p>
          <a:p>
            <a:pPr>
              <a:spcBef>
                <a:spcPts val="1000"/>
              </a:spcBef>
            </a:pPr>
            <a:r>
              <a:rPr lang="en-AU" sz="2800" dirty="0" smtClean="0"/>
              <a:t>Adaptable to different brain regions based on </a:t>
            </a:r>
            <a:r>
              <a:rPr lang="en-AU" sz="2800" smtClean="0"/>
              <a:t>cell populations/ connectivities</a:t>
            </a:r>
            <a:endParaRPr lang="en-AU" sz="2800" dirty="0" smtClean="0"/>
          </a:p>
          <a:p>
            <a:pPr>
              <a:spcBef>
                <a:spcPts val="1000"/>
              </a:spcBef>
            </a:pPr>
            <a:r>
              <a:rPr lang="en-AU" sz="2800" dirty="0" smtClean="0"/>
              <a:t>Model generates </a:t>
            </a:r>
            <a:r>
              <a:rPr lang="en-AU" sz="2800" smtClean="0"/>
              <a:t>realistic neuronal dynamics; demonstrated control of </a:t>
            </a:r>
            <a:r>
              <a:rPr lang="en-AU" sz="2800" dirty="0" smtClean="0"/>
              <a:t>virtual arm</a:t>
            </a:r>
            <a:endParaRPr lang="en-AU" dirty="0"/>
          </a:p>
        </p:txBody>
      </p:sp>
      <p:grpSp>
        <p:nvGrpSpPr>
          <p:cNvPr id="11" name="Group 10"/>
          <p:cNvGrpSpPr/>
          <p:nvPr/>
        </p:nvGrpSpPr>
        <p:grpSpPr>
          <a:xfrm>
            <a:off x="395536" y="5301208"/>
            <a:ext cx="4439357" cy="1008112"/>
            <a:chOff x="249033" y="5661248"/>
            <a:chExt cx="4439357" cy="1008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r="-1374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347408" y="5661248"/>
              <a:ext cx="17763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/>
                <a:t>Synaptic input:</a:t>
              </a:r>
              <a:endParaRPr lang="en-AU" sz="2000" b="1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36096" y="5373216"/>
            <a:ext cx="2827633" cy="864096"/>
            <a:chOff x="6084168" y="4797152"/>
            <a:chExt cx="2827633" cy="8640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6084168" y="5236003"/>
                  <a:ext cx="2827633" cy="42524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 +</m:t>
                        </m:r>
                        <m:r>
                          <a:rPr lang="en-US" i="1">
                            <a:latin typeface="Cambria Math"/>
                          </a:rPr>
                          <m:t>𝛼</m:t>
                        </m:r>
                        <m:r>
                          <a:rPr lang="en-US" i="1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</a:rPr>
                              <m:t>Δ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−|</m:t>
                            </m:r>
                            <m:r>
                              <a:rPr lang="en-US" i="1">
                                <a:latin typeface="Cambria Math"/>
                              </a:rPr>
                              <m:t>𝛥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|/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𝐿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168" y="5236003"/>
                  <a:ext cx="2827633" cy="425245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r="-3879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6156176" y="4797152"/>
              <a:ext cx="21692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/>
                <a:t>Synaptic plasticity:</a:t>
              </a:r>
              <a:endParaRPr lang="en-AU" sz="20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883" y="1700808"/>
            <a:ext cx="3284605" cy="303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2348880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78" y="2427684"/>
            <a:ext cx="5453141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AU" sz="2800" smtClean="0"/>
              <a:t>Connectivity matrix based on rat, cat, and macaque data</a:t>
            </a:r>
          </a:p>
          <a:p>
            <a:pPr>
              <a:spcBef>
                <a:spcPts val="1000"/>
              </a:spcBef>
            </a:pPr>
            <a:r>
              <a:rPr lang="en-AU" sz="2800" smtClean="0"/>
              <a:t>Strong intralaminar and thalamocortical connectivity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912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5816" y="1268760"/>
            <a:ext cx="6048672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63" y="1343088"/>
            <a:ext cx="5504379" cy="4996961"/>
          </a:xfrm>
        </p:spPr>
      </p:pic>
      <p:sp>
        <p:nvSpPr>
          <p:cNvPr id="6" name="Rectangle 5"/>
          <p:cNvSpPr/>
          <p:nvPr/>
        </p:nvSpPr>
        <p:spPr>
          <a:xfrm>
            <a:off x="251520" y="1340768"/>
            <a:ext cx="2592288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Continuous firing rate model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9 neuronal populations</a:t>
            </a:r>
            <a:endParaRPr lang="en-AU" sz="2800"/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26 connections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/>
              <a:t>Field model activity drives network model</a:t>
            </a:r>
          </a:p>
        </p:txBody>
      </p:sp>
    </p:spTree>
    <p:extLst>
      <p:ext uri="{BB962C8B-B14F-4D97-AF65-F5344CB8AC3E}">
        <p14:creationId xmlns:p14="http://schemas.microsoft.com/office/powerpoint/2010/main" val="415549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</p:spPr>
            <p:txBody>
              <a:bodyPr>
                <a:normAutofit/>
              </a:bodyPr>
              <a:lstStyle/>
              <a:p>
                <a:r>
                  <a:rPr lang="en-AU" sz="2800" dirty="0" smtClean="0"/>
                  <a:t>Neurons averaged out </a:t>
                </a:r>
                <a:r>
                  <a:rPr lang="en-AU" sz="2800" smtClean="0"/>
                  <a:t>over </a:t>
                </a:r>
                <a:r>
                  <a:rPr lang="en-AU" sz="2800" smtClean="0">
                    <a:sym typeface="Symbol"/>
                  </a:rPr>
                  <a:t></a:t>
                </a:r>
                <a:r>
                  <a:rPr lang="en-AU" sz="2800" smtClean="0"/>
                  <a:t>1 </a:t>
                </a:r>
                <a:r>
                  <a:rPr lang="en-AU" sz="2800" dirty="0" smtClean="0"/>
                  <a:t>mm, allowing the whole brain to be </a:t>
                </a:r>
                <a:r>
                  <a:rPr lang="en-AU" sz="2800" smtClean="0"/>
                  <a:t>represented by a grid of </a:t>
                </a:r>
                <a:r>
                  <a:rPr lang="en-AU" sz="2800" dirty="0" smtClean="0"/>
                  <a:t>nodes</a:t>
                </a:r>
              </a:p>
              <a:p>
                <a:r>
                  <a:rPr lang="en-AU" sz="2800" dirty="0" smtClean="0"/>
                  <a:t>Includes major cortical and thalamic </a:t>
                </a:r>
                <a:r>
                  <a:rPr lang="en-AU" sz="2800" smtClean="0"/>
                  <a:t>cell populations, </a:t>
                </a:r>
                <a:r>
                  <a:rPr lang="en-AU" sz="2800" dirty="0" smtClean="0"/>
                  <a:t>plus </a:t>
                </a:r>
                <a:r>
                  <a:rPr lang="en-AU" sz="2800" smtClean="0"/>
                  <a:t>basal ganglia</a:t>
                </a:r>
              </a:p>
              <a:p>
                <a:r>
                  <a:rPr lang="en-AU" sz="2800" smtClean="0"/>
                  <a:t>Demonstrated ability to replicate </a:t>
                </a:r>
                <a:br>
                  <a:rPr lang="en-AU" sz="2800" smtClean="0"/>
                </a:br>
                <a:r>
                  <a:rPr lang="en-AU" sz="2800" smtClean="0"/>
                  <a:t>physiological firing rates and spectra:</a:t>
                </a:r>
                <a:endParaRPr lang="en-AU" sz="2800" dirty="0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buNone/>
                </a:pPr>
                <a:r>
                  <a:rPr lang="en-AU" sz="2000" b="1" smtClean="0"/>
                  <a:t>Population </a:t>
                </a:r>
                <a:r>
                  <a:rPr lang="en-AU" sz="2000" b="1" dirty="0" smtClean="0"/>
                  <a:t>firing response: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     </m:t>
                    </m:r>
                    <m:r>
                      <a:rPr lang="en-AU" sz="2000" b="0" i="1" smtClean="0">
                        <a:latin typeface="Cambria Math"/>
                      </a:rPr>
                      <m:t>𝑄</m:t>
                    </m:r>
                    <m:r>
                      <a:rPr lang="en-AU" sz="2000" b="0" i="1" smtClean="0">
                        <a:latin typeface="Cambria Math"/>
                      </a:rPr>
                      <m:t>(</m:t>
                    </m:r>
                    <m:r>
                      <a:rPr lang="en-AU" sz="2000" b="0" i="1" smtClean="0">
                        <a:latin typeface="Cambria Math"/>
                      </a:rPr>
                      <m:t>𝑡</m:t>
                    </m:r>
                    <m:r>
                      <a:rPr lang="en-AU" sz="2000" b="0" i="1" smtClean="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en-AU" sz="2000" b="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/>
                              </a:rPr>
                              <m:t>𝑄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/>
                              </a:rPr>
                              <m:t>𝑚𝑎𝑥</m:t>
                            </m:r>
                          </m:sup>
                        </m:sSup>
                      </m:num>
                      <m:den>
                        <m:r>
                          <a:rPr lang="en-AU" sz="2000" b="0" i="1" smtClean="0">
                            <a:latin typeface="Cambria Math"/>
                          </a:rPr>
                          <m:t>1−</m:t>
                        </m:r>
                        <m:sSup>
                          <m:sSupPr>
                            <m:ctrlPr>
                              <a:rPr lang="en-AU" sz="2000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000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AU" sz="2000" b="0" i="1" smtClean="0">
                                <a:latin typeface="Cambria Math"/>
                              </a:rPr>
                              <m:t>−(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AU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AU" sz="2000" b="0" i="1" smtClean="0">
                                    <a:latin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AU" sz="2000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𝜃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)/</m:t>
                            </m:r>
                            <m:r>
                              <a:rPr lang="en-AU" sz="2000" b="0" i="1" smtClean="0">
                                <a:latin typeface="Cambria Math"/>
                              </a:rPr>
                              <m:t>𝜎</m:t>
                            </m:r>
                          </m:sup>
                        </m:sSup>
                      </m:den>
                    </m:f>
                  </m:oMath>
                </a14:m>
                <a:endParaRPr lang="en-AU" sz="2000" b="1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buNone/>
                </a:pPr>
                <a:r>
                  <a:rPr lang="en-AU" sz="2000" b="1" smtClean="0"/>
                  <a:t>Transfer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𝑒𝑠𝑛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𝑠𝑟𝑠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𝐿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𝑒𝑖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𝑒𝑒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𝑒𝑠𝑟𝑒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2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  <a:blipFill rotWithShape="1">
                <a:blip r:embed="rId2"/>
                <a:stretch>
                  <a:fillRect l="-1220" t="-1467" r="-25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80" y="2861983"/>
            <a:ext cx="2987792" cy="24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3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1988840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14" y="2067644"/>
            <a:ext cx="5262468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AU" sz="2800" smtClean="0"/>
              <a:t>GPi links basal ganglia to rest of brain:</a:t>
            </a:r>
            <a:endParaRPr lang="en-AU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043608" y="4797152"/>
            <a:ext cx="50405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6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4525963"/>
          </a:xfrm>
        </p:spPr>
        <p:txBody>
          <a:bodyPr/>
          <a:lstStyle/>
          <a:p>
            <a:r>
              <a:rPr lang="en-AU" sz="2800" smtClean="0"/>
              <a:t>Firing rates in the field model drive an ensemble of Poisson processes, which then drive the network</a:t>
            </a:r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From field to network </a:t>
            </a:r>
            <a:endParaRPr lang="en-AU"/>
          </a:p>
        </p:txBody>
      </p:sp>
      <p:grpSp>
        <p:nvGrpSpPr>
          <p:cNvPr id="3" name="Group 2"/>
          <p:cNvGrpSpPr/>
          <p:nvPr/>
        </p:nvGrpSpPr>
        <p:grpSpPr>
          <a:xfrm>
            <a:off x="1547664" y="2492896"/>
            <a:ext cx="6336704" cy="3744416"/>
            <a:chOff x="1547664" y="2060848"/>
            <a:chExt cx="6336704" cy="3744416"/>
          </a:xfrm>
        </p:grpSpPr>
        <p:sp>
          <p:nvSpPr>
            <p:cNvPr id="50" name="Rectangle 49"/>
            <p:cNvSpPr/>
            <p:nvPr/>
          </p:nvSpPr>
          <p:spPr>
            <a:xfrm>
              <a:off x="1547664" y="2060848"/>
              <a:ext cx="6336704" cy="37444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40152" y="2379638"/>
              <a:ext cx="1512168" cy="302433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Network</a:t>
              </a:r>
              <a:endParaRPr lang="en-US" b="1">
                <a:solidFill>
                  <a:schemeClr val="tx2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23728" y="2672916"/>
              <a:ext cx="828092" cy="2484276"/>
            </a:xfrm>
            <a:prstGeom prst="rect">
              <a:avLst/>
            </a:prstGeom>
            <a:solidFill>
              <a:srgbClr val="77933C">
                <a:alpha val="10196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accent3">
                      <a:lumMod val="75000"/>
                    </a:schemeClr>
                  </a:solidFill>
                </a:rPr>
                <a:t>Field</a:t>
              </a:r>
              <a:endParaRPr lang="en-US" b="1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6948264" y="3171726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6768244" y="345975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7020272" y="4467870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6768244" y="4755902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660232" y="273967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156176" y="309971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388968" y="381979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6516216" y="4251846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6300192" y="4971926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696236" y="5187950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11760" y="3284984"/>
              <a:ext cx="288032" cy="360040"/>
            </a:xfrm>
            <a:prstGeom prst="rect">
              <a:avLst/>
            </a:prstGeom>
            <a:solidFill>
              <a:schemeClr val="accent3">
                <a:lumMod val="5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 smtClean="0"/>
                <a:t>p</a:t>
              </a:r>
              <a:r>
                <a:rPr lang="en-US" baseline="-25000" smtClean="0"/>
                <a:t>1</a:t>
              </a:r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11760" y="3861048"/>
              <a:ext cx="288032" cy="360040"/>
            </a:xfrm>
            <a:prstGeom prst="rect">
              <a:avLst/>
            </a:prstGeom>
            <a:solidFill>
              <a:schemeClr val="accent6">
                <a:lumMod val="75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/>
                <a:t>p</a:t>
              </a:r>
              <a:r>
                <a:rPr lang="en-US" baseline="-25000" smtClean="0"/>
                <a:t>2</a:t>
              </a:r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11760" y="4437112"/>
              <a:ext cx="288032" cy="360040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/>
                <a:t>p</a:t>
              </a:r>
              <a:r>
                <a:rPr lang="en-US" baseline="-25000" smtClean="0"/>
                <a:t>3</a:t>
              </a:r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64000" y="281168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64000" y="307916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64000" y="334664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464000" y="361412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64000" y="388160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464000" y="414908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64000" y="441656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64000" y="468404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64000" y="495152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464000" y="521900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14" idx="3"/>
              <a:endCxn id="17" idx="1"/>
            </p:cNvCxnSpPr>
            <p:nvPr/>
          </p:nvCxnSpPr>
          <p:spPr>
            <a:xfrm flipV="1">
              <a:off x="2699792" y="2865686"/>
              <a:ext cx="1764208" cy="59931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4" idx="3"/>
              <a:endCxn id="18" idx="1"/>
            </p:cNvCxnSpPr>
            <p:nvPr/>
          </p:nvCxnSpPr>
          <p:spPr>
            <a:xfrm flipV="1">
              <a:off x="2699792" y="3133166"/>
              <a:ext cx="1764208" cy="33183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4" idx="3"/>
              <a:endCxn id="19" idx="1"/>
            </p:cNvCxnSpPr>
            <p:nvPr/>
          </p:nvCxnSpPr>
          <p:spPr>
            <a:xfrm flipV="1">
              <a:off x="2699792" y="3400646"/>
              <a:ext cx="1764208" cy="6435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5" idx="3"/>
              <a:endCxn id="20" idx="1"/>
            </p:cNvCxnSpPr>
            <p:nvPr/>
          </p:nvCxnSpPr>
          <p:spPr>
            <a:xfrm flipV="1">
              <a:off x="2699792" y="3668126"/>
              <a:ext cx="1764208" cy="37294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5" idx="3"/>
              <a:endCxn id="21" idx="1"/>
            </p:cNvCxnSpPr>
            <p:nvPr/>
          </p:nvCxnSpPr>
          <p:spPr>
            <a:xfrm flipV="1">
              <a:off x="2699792" y="3935606"/>
              <a:ext cx="1764208" cy="10546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5" idx="3"/>
              <a:endCxn id="22" idx="1"/>
            </p:cNvCxnSpPr>
            <p:nvPr/>
          </p:nvCxnSpPr>
          <p:spPr>
            <a:xfrm>
              <a:off x="2699792" y="4041068"/>
              <a:ext cx="1764208" cy="16201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3"/>
              <a:endCxn id="23" idx="1"/>
            </p:cNvCxnSpPr>
            <p:nvPr/>
          </p:nvCxnSpPr>
          <p:spPr>
            <a:xfrm>
              <a:off x="2699792" y="4041068"/>
              <a:ext cx="1764208" cy="42949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6" idx="3"/>
              <a:endCxn id="24" idx="1"/>
            </p:cNvCxnSpPr>
            <p:nvPr/>
          </p:nvCxnSpPr>
          <p:spPr>
            <a:xfrm>
              <a:off x="2699792" y="4617132"/>
              <a:ext cx="1764208" cy="12091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3"/>
              <a:endCxn id="25" idx="1"/>
            </p:cNvCxnSpPr>
            <p:nvPr/>
          </p:nvCxnSpPr>
          <p:spPr>
            <a:xfrm>
              <a:off x="2699792" y="4617132"/>
              <a:ext cx="1764208" cy="38839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6" idx="3"/>
              <a:endCxn id="26" idx="1"/>
            </p:cNvCxnSpPr>
            <p:nvPr/>
          </p:nvCxnSpPr>
          <p:spPr>
            <a:xfrm>
              <a:off x="2699792" y="4617132"/>
              <a:ext cx="1764208" cy="65587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7" idx="3"/>
              <a:endCxn id="8" idx="2"/>
            </p:cNvCxnSpPr>
            <p:nvPr/>
          </p:nvCxnSpPr>
          <p:spPr>
            <a:xfrm flipV="1">
              <a:off x="4572000" y="2811686"/>
              <a:ext cx="2088232" cy="5400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8" idx="3"/>
              <a:endCxn id="9" idx="2"/>
            </p:cNvCxnSpPr>
            <p:nvPr/>
          </p:nvCxnSpPr>
          <p:spPr>
            <a:xfrm>
              <a:off x="4572000" y="3133166"/>
              <a:ext cx="1584176" cy="3856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9" idx="3"/>
              <a:endCxn id="4" idx="2"/>
            </p:cNvCxnSpPr>
            <p:nvPr/>
          </p:nvCxnSpPr>
          <p:spPr>
            <a:xfrm flipV="1">
              <a:off x="4572000" y="3243734"/>
              <a:ext cx="2376264" cy="15691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3"/>
              <a:endCxn id="5" idx="2"/>
            </p:cNvCxnSpPr>
            <p:nvPr/>
          </p:nvCxnSpPr>
          <p:spPr>
            <a:xfrm flipV="1">
              <a:off x="4572000" y="3531766"/>
              <a:ext cx="2196244" cy="13636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1" idx="3"/>
              <a:endCxn id="10" idx="2"/>
            </p:cNvCxnSpPr>
            <p:nvPr/>
          </p:nvCxnSpPr>
          <p:spPr>
            <a:xfrm flipV="1">
              <a:off x="4572000" y="3891806"/>
              <a:ext cx="1816968" cy="4380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2" idx="3"/>
              <a:endCxn id="11" idx="2"/>
            </p:cNvCxnSpPr>
            <p:nvPr/>
          </p:nvCxnSpPr>
          <p:spPr>
            <a:xfrm>
              <a:off x="4572000" y="4203086"/>
              <a:ext cx="1944216" cy="12076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3" idx="3"/>
              <a:endCxn id="6" idx="2"/>
            </p:cNvCxnSpPr>
            <p:nvPr/>
          </p:nvCxnSpPr>
          <p:spPr>
            <a:xfrm>
              <a:off x="4572000" y="4470566"/>
              <a:ext cx="2448272" cy="6931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3"/>
              <a:endCxn id="7" idx="2"/>
            </p:cNvCxnSpPr>
            <p:nvPr/>
          </p:nvCxnSpPr>
          <p:spPr>
            <a:xfrm>
              <a:off x="4572000" y="4738046"/>
              <a:ext cx="2196244" cy="89864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5" idx="3"/>
              <a:endCxn id="12" idx="2"/>
            </p:cNvCxnSpPr>
            <p:nvPr/>
          </p:nvCxnSpPr>
          <p:spPr>
            <a:xfrm>
              <a:off x="4572000" y="5005526"/>
              <a:ext cx="1728192" cy="3840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6" idx="3"/>
              <a:endCxn id="13" idx="2"/>
            </p:cNvCxnSpPr>
            <p:nvPr/>
          </p:nvCxnSpPr>
          <p:spPr>
            <a:xfrm flipV="1">
              <a:off x="4572000" y="5259958"/>
              <a:ext cx="2124236" cy="1304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977940" y="2379638"/>
              <a:ext cx="1080120" cy="3024336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/>
                <a:t>Poisson</a:t>
              </a:r>
              <a:endParaRPr 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276397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59832" y="1052736"/>
            <a:ext cx="58326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Field model dynamics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07293"/>
            <a:ext cx="2458616" cy="5059537"/>
          </a:xfrm>
        </p:spPr>
        <p:txBody>
          <a:bodyPr>
            <a:normAutofit fontScale="92500" lnSpcReduction="20000"/>
          </a:bodyPr>
          <a:lstStyle/>
          <a:p>
            <a:endParaRPr lang="en-AU" smtClean="0"/>
          </a:p>
          <a:p>
            <a:r>
              <a:rPr lang="en-AU" smtClean="0"/>
              <a:t>PD disrupts coherence between basal ganglia nuclei</a:t>
            </a:r>
          </a:p>
          <a:p>
            <a:endParaRPr lang="en-AU" smtClean="0"/>
          </a:p>
          <a:p>
            <a:r>
              <a:rPr lang="en-AU" smtClean="0"/>
              <a:t>PD changes spectral power in beta/gamma bands</a:t>
            </a:r>
            <a:endParaRPr lang="en-AU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59" y="1231727"/>
            <a:ext cx="5601205" cy="50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5576" y="1052736"/>
            <a:ext cx="76328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model dynamics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20" y="1216340"/>
            <a:ext cx="7337561" cy="5116177"/>
          </a:xfrm>
        </p:spPr>
      </p:pic>
    </p:spTree>
    <p:extLst>
      <p:ext uri="{BB962C8B-B14F-4D97-AF65-F5344CB8AC3E}">
        <p14:creationId xmlns:p14="http://schemas.microsoft.com/office/powerpoint/2010/main" val="11597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spectra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88" y="1404959"/>
            <a:ext cx="5764232" cy="4688337"/>
          </a:xfrm>
        </p:spPr>
      </p:pic>
    </p:spTree>
    <p:extLst>
      <p:ext uri="{BB962C8B-B14F-4D97-AF65-F5344CB8AC3E}">
        <p14:creationId xmlns:p14="http://schemas.microsoft.com/office/powerpoint/2010/main" val="190756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Burst probability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26" y="1752996"/>
            <a:ext cx="5517949" cy="4196284"/>
          </a:xfrm>
        </p:spPr>
      </p:pic>
    </p:spTree>
    <p:extLst>
      <p:ext uri="{BB962C8B-B14F-4D97-AF65-F5344CB8AC3E}">
        <p14:creationId xmlns:p14="http://schemas.microsoft.com/office/powerpoint/2010/main" val="152453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3568" y="1052736"/>
            <a:ext cx="7848872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Granger causality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33" y="1162917"/>
            <a:ext cx="7518134" cy="5218411"/>
          </a:xfrm>
        </p:spPr>
      </p:pic>
    </p:spTree>
    <p:extLst>
      <p:ext uri="{BB962C8B-B14F-4D97-AF65-F5344CB8AC3E}">
        <p14:creationId xmlns:p14="http://schemas.microsoft.com/office/powerpoint/2010/main" val="361072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5246043"/>
          </a:xfrm>
        </p:spPr>
        <p:txBody>
          <a:bodyPr>
            <a:normAutofit/>
          </a:bodyPr>
          <a:lstStyle/>
          <a:p>
            <a:r>
              <a:rPr lang="en-AU" smtClean="0"/>
              <a:t>Model can reproduce many features of Parkinson’s disease (e.g. reduced cortical firing, increased coherence)</a:t>
            </a:r>
          </a:p>
          <a:p>
            <a:r>
              <a:rPr lang="en-AU" smtClean="0"/>
              <a:t>Granger </a:t>
            </a:r>
            <a:r>
              <a:rPr lang="en-AU"/>
              <a:t>causality </a:t>
            </a:r>
            <a:r>
              <a:rPr lang="en-AU" smtClean="0"/>
              <a:t>between cortical </a:t>
            </a:r>
            <a:r>
              <a:rPr lang="en-AU"/>
              <a:t>layers was markedly reduced in PD – possible explanation </a:t>
            </a:r>
            <a:r>
              <a:rPr lang="en-AU" smtClean="0"/>
              <a:t>of bradyphrenia (…and bradykinesia?)</a:t>
            </a:r>
          </a:p>
          <a:p>
            <a:r>
              <a:rPr lang="en-AU"/>
              <a:t>Different input drives </a:t>
            </a:r>
            <a:r>
              <a:rPr lang="en-AU" smtClean="0"/>
              <a:t>had a </a:t>
            </a:r>
            <a:r>
              <a:rPr lang="en-AU"/>
              <a:t>major </a:t>
            </a:r>
            <a:r>
              <a:rPr lang="en-AU" smtClean="0"/>
              <a:t>effect </a:t>
            </a:r>
            <a:r>
              <a:rPr lang="en-AU"/>
              <a:t>on the model </a:t>
            </a:r>
            <a:r>
              <a:rPr lang="en-AU" smtClean="0"/>
              <a:t>dynamics</a:t>
            </a:r>
          </a:p>
          <a:p>
            <a:pPr lvl="1"/>
            <a:r>
              <a:rPr lang="en-AU" smtClean="0"/>
              <a:t>Where </a:t>
            </a:r>
            <a:r>
              <a:rPr lang="en-AU"/>
              <a:t>possible, </a:t>
            </a:r>
            <a:r>
              <a:rPr lang="en-AU" smtClean="0"/>
              <a:t>realistic inputs should </a:t>
            </a:r>
            <a:r>
              <a:rPr lang="en-AU"/>
              <a:t>be used instead of white </a:t>
            </a:r>
            <a:r>
              <a:rPr lang="en-AU" smtClean="0"/>
              <a:t>noise for driving network models </a:t>
            </a:r>
            <a:endParaRPr lang="en-AU"/>
          </a:p>
          <a:p>
            <a:endParaRPr lang="en-AU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562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 descr="golden-ginko.jpg"/>
          <p:cNvPicPr>
            <a:picLocks noChangeAspect="1"/>
          </p:cNvPicPr>
          <p:nvPr/>
        </p:nvPicPr>
        <p:blipFill>
          <a:blip r:embed="rId3" cstate="print">
            <a:lum bright="3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8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u="sng" dirty="0" smtClean="0">
                <a:latin typeface="Garamond MT" pitchFamily="18" charset="0"/>
              </a:rPr>
              <a:t>Acknowledgements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1907704" y="1213913"/>
            <a:ext cx="7056784" cy="5762625"/>
          </a:xfrm>
        </p:spPr>
        <p:txBody>
          <a:bodyPr/>
          <a:lstStyle/>
          <a:p>
            <a:pPr>
              <a:buNone/>
            </a:pPr>
            <a:r>
              <a:rPr lang="en-AU">
                <a:latin typeface="Garamond MT" pitchFamily="18" charset="0"/>
              </a:rPr>
              <a:t>Sacha J. van Albada</a:t>
            </a:r>
          </a:p>
          <a:p>
            <a:pPr eaLnBrk="1" hangingPunct="1">
              <a:buFontTx/>
              <a:buNone/>
            </a:pP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dirty="0" smtClean="0">
                <a:latin typeface="Garamond MT" pitchFamily="18" charset="0"/>
              </a:rPr>
              <a:t>	</a:t>
            </a:r>
            <a:r>
              <a:rPr lang="en-AU" smtClean="0">
                <a:latin typeface="Garamond MT" pitchFamily="18" charset="0"/>
              </a:rPr>
              <a:t>	        Samuel A. Neymotin</a:t>
            </a: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mtClean="0">
              <a:latin typeface="Garamond MT" pitchFamily="18" charset="0"/>
            </a:endParaRPr>
          </a:p>
          <a:p>
            <a:pPr>
              <a:buNone/>
            </a:pPr>
            <a:r>
              <a:rPr lang="en-AU" smtClean="0">
                <a:latin typeface="Garamond MT" pitchFamily="18" charset="0"/>
              </a:rPr>
              <a:t>George </a:t>
            </a:r>
            <a:r>
              <a:rPr lang="en-AU">
                <a:latin typeface="Garamond MT" pitchFamily="18" charset="0"/>
              </a:rPr>
              <a:t>L. Chadderdon III</a:t>
            </a:r>
          </a:p>
          <a:p>
            <a:pPr eaLnBrk="1" hangingPunct="1">
              <a:buFontTx/>
              <a:buNone/>
            </a:pPr>
            <a:endParaRPr lang="en-AU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smtClean="0">
                <a:latin typeface="Garamond MT" pitchFamily="18" charset="0"/>
              </a:rPr>
              <a:t>                    Peter A. Robinson</a:t>
            </a:r>
            <a:endParaRPr lang="en-AU" dirty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r>
              <a:rPr lang="en-AU" smtClean="0">
                <a:latin typeface="Garamond MT" pitchFamily="18" charset="0"/>
              </a:rPr>
              <a:t>William </a:t>
            </a:r>
            <a:r>
              <a:rPr lang="en-AU">
                <a:latin typeface="Garamond MT" pitchFamily="18" charset="0"/>
              </a:rPr>
              <a:t>W. Lytton</a:t>
            </a:r>
          </a:p>
          <a:p>
            <a:pPr eaLnBrk="1" hangingPunct="1">
              <a:buFontTx/>
              <a:buNone/>
            </a:pPr>
            <a:endParaRPr lang="en-AU" sz="2000" dirty="0" smtClean="0">
              <a:latin typeface="Garamond MT" pitchFamily="18" charset="0"/>
            </a:endParaRPr>
          </a:p>
          <a:p>
            <a:pPr eaLnBrk="1" hangingPunct="1">
              <a:buFontTx/>
              <a:buNone/>
            </a:pPr>
            <a:endParaRPr lang="en-AU" sz="2800" dirty="0" smtClean="0">
              <a:latin typeface="Garamond MT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7" y="1556792"/>
            <a:ext cx="1815111" cy="20261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7" y="2458933"/>
            <a:ext cx="1361793" cy="21942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" y="764704"/>
            <a:ext cx="1347926" cy="14432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8" y="4911695"/>
            <a:ext cx="1361792" cy="18179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79" y="4077072"/>
            <a:ext cx="1837919" cy="2062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714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oodGaramond">
      <a:majorFont>
        <a:latin typeface="Garamond MT"/>
        <a:ea typeface=""/>
        <a:cs typeface=""/>
      </a:majorFont>
      <a:minorFont>
        <a:latin typeface="Garamond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3027</TotalTime>
  <Words>404</Words>
  <Application>Microsoft Office PowerPoint</Application>
  <PresentationFormat>On-screen Show (4:3)</PresentationFormat>
  <Paragraphs>77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Multiscale modeling of cortical information flow in Parkinson's disease</vt:lpstr>
      <vt:lpstr>Parkinson’s disease</vt:lpstr>
      <vt:lpstr>Spiking network model</vt:lpstr>
      <vt:lpstr>Spiking network model</vt:lpstr>
      <vt:lpstr>Spiking network model</vt:lpstr>
      <vt:lpstr>Neural field model</vt:lpstr>
      <vt:lpstr>Neural field model</vt:lpstr>
      <vt:lpstr>Neural field model</vt:lpstr>
      <vt:lpstr>From field to network </vt:lpstr>
      <vt:lpstr>Field model dynamics</vt:lpstr>
      <vt:lpstr>Network model dynamics</vt:lpstr>
      <vt:lpstr>Network spectra</vt:lpstr>
      <vt:lpstr>Burst probability</vt:lpstr>
      <vt:lpstr>Granger causality</vt:lpstr>
      <vt:lpstr>Summary</vt:lpstr>
      <vt:lpstr>Acknowledgements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Oscillations in the brain</dc:title>
  <dc:creator>Cliff Kerr</dc:creator>
  <cp:lastModifiedBy>cliffk</cp:lastModifiedBy>
  <cp:revision>380</cp:revision>
  <dcterms:created xsi:type="dcterms:W3CDTF">2011-09-03T07:13:05Z</dcterms:created>
  <dcterms:modified xsi:type="dcterms:W3CDTF">2013-02-27T00:14:37Z</dcterms:modified>
</cp:coreProperties>
</file>